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3.xml" ContentType="application/vnd.openxmlformats-officedocument.presentationml.tags+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Lst>
  <p:notesMasterIdLst>
    <p:notesMasterId r:id="rId18"/>
  </p:notesMasterIdLst>
  <p:sldIdLst>
    <p:sldId id="256" r:id="rId3"/>
    <p:sldId id="571" r:id="rId4"/>
    <p:sldId id="572" r:id="rId5"/>
    <p:sldId id="573" r:id="rId6"/>
    <p:sldId id="580" r:id="rId7"/>
    <p:sldId id="574" r:id="rId8"/>
    <p:sldId id="575" r:id="rId9"/>
    <p:sldId id="576" r:id="rId10"/>
    <p:sldId id="581" r:id="rId11"/>
    <p:sldId id="582" r:id="rId12"/>
    <p:sldId id="583" r:id="rId13"/>
    <p:sldId id="577" r:id="rId14"/>
    <p:sldId id="579" r:id="rId15"/>
    <p:sldId id="578" r:id="rId16"/>
    <p:sldId id="536" r:id="rId17"/>
  </p:sldIdLst>
  <p:sldSz cx="12192000" cy="6858000"/>
  <p:notesSz cx="6858000" cy="9144000"/>
  <p:custDataLst>
    <p:tags r:id="rId1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3818" autoAdjust="0"/>
  </p:normalViewPr>
  <p:slideViewPr>
    <p:cSldViewPr snapToGrid="0" showGuides="1">
      <p:cViewPr>
        <p:scale>
          <a:sx n="75" d="100"/>
          <a:sy n="75" d="100"/>
        </p:scale>
        <p:origin x="946" y="216"/>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8/10/relationships/authors" Targe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tags" Target="tags/tag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10-03-2026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t>15</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t>10-03-2026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3/10/2026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10/03/2026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391886" y="1704740"/>
            <a:ext cx="5075853" cy="1915537"/>
          </a:xfrm>
          <a:prstGeom prst="rect">
            <a:avLst/>
          </a:prstGeom>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dirty="0">
                <a:latin typeface="+mj-lt"/>
                <a:ea typeface="+mj-ea"/>
                <a:cs typeface="+mj-cs"/>
              </a:rPr>
              <a:t>CAPSTONE </a:t>
            </a:r>
            <a:r>
              <a:rPr lang="en-US" sz="2800" b="1" dirty="0"/>
              <a:t>PROJECT</a:t>
            </a:r>
            <a:endParaRPr lang="en-US" sz="5100" dirty="0">
              <a:latin typeface="Aptos"/>
            </a:endParaRPr>
          </a:p>
          <a:p>
            <a:pPr algn="l"/>
            <a:br>
              <a:rPr lang="en-US" sz="5100" b="1" dirty="0"/>
            </a:br>
            <a:r>
              <a:rPr lang="en-US" sz="5100" b="1" cap="all" dirty="0">
                <a:latin typeface="Aptos"/>
              </a:rPr>
              <a:t>E-COMMERCE REPORT ANALYSIS </a:t>
            </a:r>
            <a:endParaRPr lang="en-US" sz="5100" dirty="0">
              <a:latin typeface="Aptos"/>
            </a:endParaRPr>
          </a:p>
          <a:p>
            <a:pPr algn="l"/>
            <a:endParaRPr lang="en-US" sz="5100" b="1" kern="1200" dirty="0"/>
          </a:p>
        </p:txBody>
      </p:sp>
      <p:sp>
        <p:nvSpPr>
          <p:cNvPr id="5" name="Subtitle 2"/>
          <p:cNvSpPr>
            <a:spLocks noGrp="1"/>
          </p:cNvSpPr>
          <p:nvPr/>
        </p:nvSpPr>
        <p:spPr>
          <a:xfrm>
            <a:off x="594127" y="3739889"/>
            <a:ext cx="416651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t>Presented By</a:t>
            </a:r>
            <a:endParaRPr lang="en-US" sz="1600" cap="all" dirty="0"/>
          </a:p>
          <a:p>
            <a:pPr algn="l">
              <a:spcAft>
                <a:spcPts val="600"/>
              </a:spcAft>
            </a:pPr>
            <a:r>
              <a:rPr lang="en-US" sz="1600" b="1" cap="all" dirty="0"/>
              <a:t>Student Name: SAMIA</a:t>
            </a:r>
          </a:p>
          <a:p>
            <a:pPr algn="l">
              <a:spcAft>
                <a:spcPts val="600"/>
              </a:spcAft>
            </a:pPr>
            <a:r>
              <a:rPr lang="en-US" sz="1600" b="1" cap="all" dirty="0"/>
              <a:t>College Name: JAMIA HAMDARD</a:t>
            </a:r>
          </a:p>
          <a:p>
            <a:pPr algn="l">
              <a:spcAft>
                <a:spcPts val="600"/>
              </a:spcAft>
            </a:pPr>
            <a:r>
              <a:rPr lang="en-US" sz="1600" b="1" cap="all" dirty="0"/>
              <a:t>Department: COMPUTER SCIENCE </a:t>
            </a:r>
          </a:p>
          <a:p>
            <a:pPr algn="l">
              <a:spcAft>
                <a:spcPts val="600"/>
              </a:spcAft>
            </a:pPr>
            <a:r>
              <a:rPr lang="en-US" sz="1600" b="1" cap="all" dirty="0"/>
              <a:t>Email ID: Samiakhan1697@gmail.com</a:t>
            </a:r>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6" name="Picture 5">
            <a:extLst>
              <a:ext uri="{FF2B5EF4-FFF2-40B4-BE49-F238E27FC236}">
                <a16:creationId xmlns:a16="http://schemas.microsoft.com/office/drawing/2014/main" id="{449FFD45-2303-09D6-00B0-1A10D72033D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70761" y="487681"/>
            <a:ext cx="4491690" cy="5167746"/>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Arial" panose="020B0604020202020204"/>
                <a:cs typeface="Arial" panose="020B0604020202020204"/>
              </a:rPr>
              <a:t>Problem Statement </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Proposed System/Solution</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System Development Approach </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Algorithm &amp; Deployment  </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Result (Output Image)</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Conclusion</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Future Scope</a:t>
            </a:r>
            <a:endParaRPr lang="en-US" sz="2200" dirty="0">
              <a:latin typeface="Arial" panose="020B0604020202020204"/>
              <a:cs typeface="Arial" panose="020B0604020202020204"/>
            </a:endParaRPr>
          </a:p>
          <a:p>
            <a:pPr marL="305435" indent="-305435">
              <a:spcBef>
                <a:spcPct val="20000"/>
              </a:spcBef>
              <a:spcAft>
                <a:spcPts val="600"/>
              </a:spcAft>
            </a:pPr>
            <a:r>
              <a:rPr lang="en-US" sz="2200" b="1" dirty="0">
                <a:latin typeface="Arial" panose="020B0604020202020204"/>
                <a:cs typeface="Arial" panose="020B0604020202020204"/>
              </a:rPr>
              <a:t>References</a:t>
            </a:r>
            <a:endParaRPr lang="en-US" sz="2200" dirty="0">
              <a:latin typeface="Arial" panose="020B0604020202020204"/>
              <a:cs typeface="Arial" panose="020B0604020202020204"/>
            </a:endParaRPr>
          </a:p>
          <a:p>
            <a:endParaRPr lang="en-GB" sz="2200" dirty="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dirty="0">
                <a:latin typeface="Arial" panose="020B0604020202020204"/>
                <a:cs typeface="Arial" panose="020B0604020202020204"/>
              </a:rPr>
              <a:t>Problem Statement:</a:t>
            </a:r>
            <a:endParaRPr lang="en-US" sz="4000" dirty="0"/>
          </a:p>
        </p:txBody>
      </p:sp>
      <p:sp>
        <p:nvSpPr>
          <p:cNvPr id="3" name="Content Placeholder 2"/>
          <p:cNvSpPr>
            <a:spLocks noGrp="1"/>
          </p:cNvSpPr>
          <p:nvPr>
            <p:ph idx="1"/>
          </p:nvPr>
        </p:nvSpPr>
        <p:spPr>
          <a:xfrm>
            <a:off x="290512" y="1567542"/>
            <a:ext cx="10515600" cy="4534677"/>
          </a:xfrm>
        </p:spPr>
        <p:txBody>
          <a:bodyPr vert="horz" lIns="91440" tIns="45720" rIns="91440" bIns="45720" rtlCol="0">
            <a:normAutofit fontScale="70000" lnSpcReduction="20000"/>
          </a:bodyPr>
          <a:lstStyle/>
          <a:p>
            <a:r>
              <a:rPr lang="en-US" sz="2400" dirty="0"/>
              <a:t>In the modern digital economy, e‑commerce platforms have become one of the fastest‑growing business models, generating enormous volumes of transactional data every day. This data includes information about customer orders, product categories, regional sales, discounts, shipping preferences, and profitability. While the availability of such data is vast, businesses often struggle to manage and interpret it effectively.</a:t>
            </a:r>
          </a:p>
          <a:p>
            <a:r>
              <a:rPr lang="en-US" sz="2400" dirty="0"/>
              <a:t>The absence of structured analysis leads to several challenges:</a:t>
            </a:r>
          </a:p>
          <a:p>
            <a:r>
              <a:rPr lang="en-US" sz="2400" dirty="0"/>
              <a:t>Decision‑makers cannot easily identify which product categories or subcategories are driving the most revenue and profit.</a:t>
            </a:r>
          </a:p>
          <a:p>
            <a:r>
              <a:rPr lang="en-US" sz="2400" dirty="0"/>
              <a:t>Regional variations in sales remain hidden, making it difficult to allocate resources or plan targeted strategies.</a:t>
            </a:r>
          </a:p>
          <a:p>
            <a:r>
              <a:rPr lang="en-US" sz="2400" dirty="0"/>
              <a:t>Customer segments such as Consumer, Corporate, and Home Office are not clearly understood, resulting in missed opportunities for personalized marketing.</a:t>
            </a:r>
          </a:p>
          <a:p>
            <a:r>
              <a:rPr lang="en-US" sz="2400" dirty="0"/>
              <a:t>Discounts and shipping modes, which directly affect profitability, are not tracked in a way that reveals their true impact.</a:t>
            </a:r>
          </a:p>
          <a:p>
            <a:r>
              <a:rPr lang="en-US" sz="2400" dirty="0"/>
              <a:t>Traditional reporting methods are static and fragmented, forcing managers to rely on spreadsheets or basic summaries that do not provide real‑time insights. As a result, organizations face delays in responding to market changes, struggle to optimize operations, and risk losing competitive advantage.</a:t>
            </a:r>
          </a:p>
          <a:p>
            <a:r>
              <a:rPr lang="en-US" sz="2400" dirty="0"/>
              <a:t>The core problem, therefore, is the </a:t>
            </a:r>
            <a:r>
              <a:rPr lang="en-US" sz="2400" b="1" dirty="0"/>
              <a:t>lack of an integrated, interactive, and visually engaging system</a:t>
            </a:r>
            <a:r>
              <a:rPr lang="en-US" sz="2400" dirty="0"/>
              <a:t> that can transform raw e‑commerce data into meaningful insights. Without such a system, businesses are unable to fully leverage their data for strategic decision‑making, operational efficiency, and customer satisfaction.</a:t>
            </a:r>
          </a:p>
          <a:p>
            <a:pPr marL="0" indent="0">
              <a:buNone/>
            </a:pP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5" y="1534160"/>
            <a:ext cx="10515600" cy="4297680"/>
          </a:xfrm>
        </p:spPr>
        <p:txBody>
          <a:bodyPr vert="horz" lIns="91440" tIns="45720" rIns="91440" bIns="45720" rtlCol="0" anchor="t">
            <a:noAutofit/>
          </a:bodyPr>
          <a:lstStyle/>
          <a:p>
            <a:pPr marL="305435" indent="-305435">
              <a:spcBef>
                <a:spcPct val="20000"/>
              </a:spcBef>
              <a:spcAft>
                <a:spcPts val="600"/>
              </a:spcAft>
              <a:buFont typeface="Arial" panose="020B0604020202020204"/>
              <a:buChar char="•"/>
            </a:pPr>
            <a:r>
              <a:rPr lang="en-US" sz="1700" dirty="0"/>
              <a:t>To address the challenges faced by e‑commerce businesses in analyzing and utilizing their vast transactional data, the proposed solution is the development of an </a:t>
            </a:r>
            <a:r>
              <a:rPr lang="en-US" sz="1700" b="1" dirty="0"/>
              <a:t>interactive E‑Commerce Report Analysis Dashboard using Power BI</a:t>
            </a:r>
            <a:r>
              <a:rPr lang="en-US" sz="1700" dirty="0"/>
              <a:t>. This system is designed to transform raw data into meaningful insights, enabling decision‑makers to monitor performance, identify trends, and optimize operations in real time.</a:t>
            </a:r>
          </a:p>
          <a:p>
            <a:r>
              <a:rPr lang="en-US" sz="1700" b="1" dirty="0"/>
              <a:t>Key Components of the Solution</a:t>
            </a:r>
            <a:r>
              <a:rPr lang="en-US" sz="1700" dirty="0"/>
              <a:t>:</a:t>
            </a:r>
          </a:p>
          <a:p>
            <a:r>
              <a:rPr lang="en-US" sz="1700" b="1" dirty="0"/>
              <a:t>Data Collection</a:t>
            </a:r>
          </a:p>
          <a:p>
            <a:pPr lvl="1"/>
            <a:r>
              <a:rPr lang="en-US" sz="1700" dirty="0"/>
              <a:t>Gather historical e‑commerce data including orders, sales, profit, discounts, shipping modes, customer segments, and regional information.</a:t>
            </a:r>
          </a:p>
          <a:p>
            <a:pPr lvl="1"/>
            <a:r>
              <a:rPr lang="en-US" sz="1700" dirty="0"/>
              <a:t>Enrich the dataset with external factors such as seasonal demand, holidays, and promotional events.</a:t>
            </a:r>
          </a:p>
          <a:p>
            <a:r>
              <a:rPr lang="en-US" sz="1700" b="1" dirty="0"/>
              <a:t>Data Preprocessing</a:t>
            </a:r>
          </a:p>
          <a:p>
            <a:pPr lvl="1"/>
            <a:r>
              <a:rPr lang="en-US" sz="1700" dirty="0"/>
              <a:t>Clean and standardize the dataset to remove inconsistencies, missing values, and outliers.</a:t>
            </a:r>
          </a:p>
          <a:p>
            <a:pPr lvl="1"/>
            <a:r>
              <a:rPr lang="en-US" sz="1700" dirty="0"/>
              <a:t>Apply feature engineering to create calculated measures such as profit margin, discount impact, and regional contribution.</a:t>
            </a:r>
          </a:p>
          <a:p>
            <a:pPr marL="305435" indent="-305435">
              <a:spcBef>
                <a:spcPct val="20000"/>
              </a:spcBef>
              <a:spcAft>
                <a:spcPts val="600"/>
              </a:spcAft>
              <a:buFont typeface="Arial" panose="020B0604020202020204"/>
              <a:buChar char="•"/>
            </a:pPr>
            <a:endParaRPr lang="en-GB"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a:extLst>
              <a:ext uri="{FF2B5EF4-FFF2-40B4-BE49-F238E27FC236}">
                <a16:creationId xmlns:a16="http://schemas.microsoft.com/office/drawing/2014/main" id="{122D3EC0-2197-4872-8653-0F54F8E06E61}"/>
              </a:ext>
            </a:extLst>
          </p:cNvPr>
          <p:cNvSpPr>
            <a:spLocks noChangeArrowheads="1"/>
          </p:cNvSpPr>
          <p:nvPr/>
        </p:nvSpPr>
        <p:spPr bwMode="auto">
          <a:xfrm>
            <a:off x="162560" y="897538"/>
            <a:ext cx="11551920" cy="50629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900" b="1" dirty="0"/>
              <a:t>Dashboard Development</a:t>
            </a:r>
          </a:p>
          <a:p>
            <a:pPr lvl="1"/>
            <a:r>
              <a:rPr lang="en-US" sz="1900" b="1" dirty="0"/>
              <a:t>.</a:t>
            </a:r>
            <a:r>
              <a:rPr lang="en-US" sz="1900" dirty="0"/>
              <a:t> Build KPIs for Total Orders, Sales, Profit, and Quantity.</a:t>
            </a:r>
          </a:p>
          <a:p>
            <a:pPr marL="0" marR="0" lvl="0" indent="0" algn="l" defTabSz="914400" rtl="0" eaLnBrk="0" fontAlgn="base" latinLnBrk="0" hangingPunct="0">
              <a:lnSpc>
                <a:spcPct val="100000"/>
              </a:lnSpc>
              <a:spcBef>
                <a:spcPct val="0"/>
              </a:spcBef>
              <a:spcAft>
                <a:spcPct val="0"/>
              </a:spcAft>
              <a:buClrTx/>
              <a:buSzTx/>
              <a:tabLst/>
            </a:pPr>
            <a:r>
              <a:rPr kumimoji="0" lang="en-US" altLang="en-US" sz="1900" b="1" i="0" u="none" strike="noStrike" cap="none" normalizeH="0" baseline="0" dirty="0">
                <a:ln>
                  <a:noFill/>
                </a:ln>
                <a:solidFill>
                  <a:schemeClr val="tx1"/>
                </a:solidFill>
                <a:effectLst/>
                <a:latin typeface="Arial" panose="020B0604020202020204" pitchFamily="34" charset="0"/>
              </a:rPr>
              <a:t>        . </a:t>
            </a:r>
            <a:r>
              <a:rPr kumimoji="0" lang="en-US" altLang="en-US" sz="1900" b="0" i="0" u="none" strike="noStrike" cap="none" normalizeH="0" baseline="0" dirty="0">
                <a:ln>
                  <a:noFill/>
                </a:ln>
                <a:solidFill>
                  <a:schemeClr val="tx1"/>
                </a:solidFill>
                <a:effectLst/>
                <a:latin typeface="Arial" panose="020B0604020202020204" pitchFamily="34" charset="0"/>
              </a:rPr>
              <a:t>Use interactive visuals (bar charts, pie charts, </a:t>
            </a:r>
            <a:r>
              <a:rPr kumimoji="0" lang="en-US" altLang="en-US" sz="1900" b="0" i="0" u="none" strike="noStrike" cap="none" normalizeH="0" baseline="0" dirty="0" err="1">
                <a:ln>
                  <a:noFill/>
                </a:ln>
                <a:solidFill>
                  <a:schemeClr val="tx1"/>
                </a:solidFill>
                <a:effectLst/>
                <a:latin typeface="Arial" panose="020B0604020202020204" pitchFamily="34" charset="0"/>
              </a:rPr>
              <a:t>treemaps</a:t>
            </a:r>
            <a:r>
              <a:rPr kumimoji="0" lang="en-US" altLang="en-US" sz="1900" b="0" i="0" u="none" strike="noStrike" cap="none" normalizeH="0" baseline="0" dirty="0">
                <a:ln>
                  <a:noFill/>
                </a:ln>
                <a:solidFill>
                  <a:schemeClr val="tx1"/>
                </a:solidFill>
                <a:effectLst/>
                <a:latin typeface="Arial" panose="020B0604020202020204" pitchFamily="34" charset="0"/>
              </a:rPr>
              <a:t>, maps, gauges) to represent data across categories, regions, and customer segments. </a:t>
            </a:r>
          </a:p>
          <a:p>
            <a:pPr marL="457200" marR="0" lvl="1" indent="0" algn="l" defTabSz="914400" rtl="0" eaLnBrk="0" fontAlgn="base" latinLnBrk="0" hangingPunct="0">
              <a:lnSpc>
                <a:spcPct val="100000"/>
              </a:lnSpc>
              <a:spcBef>
                <a:spcPct val="0"/>
              </a:spcBef>
              <a:spcAft>
                <a:spcPct val="0"/>
              </a:spcAft>
              <a:buClrTx/>
              <a:buSzTx/>
              <a:tabLst/>
            </a:pPr>
            <a:r>
              <a:rPr kumimoji="0" lang="en-US" altLang="en-US" sz="1900" b="1" i="0" u="none" strike="noStrike" cap="none" normalizeH="0" baseline="0" dirty="0">
                <a:ln>
                  <a:noFill/>
                </a:ln>
                <a:solidFill>
                  <a:schemeClr val="tx1"/>
                </a:solidFill>
                <a:effectLst/>
                <a:latin typeface="Arial" panose="020B0604020202020204" pitchFamily="34" charset="0"/>
              </a:rPr>
              <a:t>.</a:t>
            </a:r>
            <a:r>
              <a:rPr kumimoji="0" lang="en-US" altLang="en-US" sz="1900" b="0" i="0" u="none" strike="noStrike" cap="none" normalizeH="0" baseline="0" dirty="0">
                <a:ln>
                  <a:noFill/>
                </a:ln>
                <a:solidFill>
                  <a:schemeClr val="tx1"/>
                </a:solidFill>
                <a:effectLst/>
                <a:latin typeface="Arial" panose="020B0604020202020204" pitchFamily="34" charset="0"/>
              </a:rPr>
              <a:t> Implement filters and slicers (e.g., shipping mode, region, discount level) for drill‑down analysis. </a:t>
            </a:r>
          </a:p>
          <a:p>
            <a:pPr marL="457200" marR="0" lvl="1" indent="0" algn="l" defTabSz="914400" rtl="0" eaLnBrk="0" fontAlgn="base" latinLnBrk="0" hangingPunct="0">
              <a:lnSpc>
                <a:spcPct val="100000"/>
              </a:lnSpc>
              <a:spcBef>
                <a:spcPct val="0"/>
              </a:spcBef>
              <a:spcAft>
                <a:spcPct val="0"/>
              </a:spcAft>
              <a:buClrTx/>
              <a:buSzTx/>
              <a:tabLst/>
            </a:pPr>
            <a:r>
              <a:rPr kumimoji="0" lang="en-US" altLang="en-US" sz="1900" b="1" i="0" u="none" strike="noStrike" cap="none" normalizeH="0" baseline="0" dirty="0">
                <a:ln>
                  <a:noFill/>
                </a:ln>
                <a:solidFill>
                  <a:schemeClr val="tx1"/>
                </a:solidFill>
                <a:effectLst/>
                <a:latin typeface="Arial" panose="020B0604020202020204" pitchFamily="34" charset="0"/>
              </a:rPr>
              <a:t>.</a:t>
            </a:r>
            <a:r>
              <a:rPr kumimoji="0" lang="en-US" altLang="en-US" sz="1900" b="0" i="0" u="none" strike="noStrike" cap="none" normalizeH="0" baseline="0" dirty="0">
                <a:ln>
                  <a:noFill/>
                </a:ln>
                <a:solidFill>
                  <a:schemeClr val="tx1"/>
                </a:solidFill>
                <a:effectLst/>
                <a:latin typeface="Arial" panose="020B0604020202020204" pitchFamily="34" charset="0"/>
              </a:rPr>
              <a:t> Add tooltips and bookmarks to enhance storytelling and user experience. </a:t>
            </a:r>
          </a:p>
          <a:p>
            <a:pPr marL="457200" marR="0" lvl="1" indent="0" algn="l" defTabSz="914400" rtl="0" eaLnBrk="0" fontAlgn="base" latinLnBrk="0" hangingPunct="0">
              <a:lnSpc>
                <a:spcPct val="100000"/>
              </a:lnSpc>
              <a:spcBef>
                <a:spcPct val="0"/>
              </a:spcBef>
              <a:spcAft>
                <a:spcPct val="0"/>
              </a:spcAft>
              <a:buClrTx/>
              <a:buSzTx/>
              <a:tabLst/>
            </a:pPr>
            <a:endParaRPr kumimoji="0" lang="en-US" altLang="en-US" sz="1900" b="0" i="0" u="none" strike="noStrike" cap="none" normalizeH="0" baseline="0" dirty="0">
              <a:ln>
                <a:noFill/>
              </a:ln>
              <a:solidFill>
                <a:schemeClr val="tx1"/>
              </a:solidFill>
              <a:effectLst/>
              <a:latin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buFontTx/>
              <a:buAutoNum type="arabicPeriod" startAt="3"/>
              <a:tabLst/>
            </a:pPr>
            <a:r>
              <a:rPr kumimoji="0" lang="en-US" altLang="en-US" sz="1900" b="1" i="0" u="none" strike="noStrike" cap="none" normalizeH="0" baseline="0" dirty="0">
                <a:ln>
                  <a:noFill/>
                </a:ln>
                <a:solidFill>
                  <a:schemeClr val="tx1"/>
                </a:solidFill>
                <a:effectLst/>
                <a:latin typeface="Arial" panose="020B0604020202020204" pitchFamily="34" charset="0"/>
              </a:rPr>
              <a:t>Deployment &amp; Accessibility</a:t>
            </a:r>
            <a:r>
              <a:rPr kumimoji="0" lang="en-US" altLang="en-US" sz="1900" b="0" i="0" u="none" strike="noStrike" cap="none" normalizeH="0" baseline="0" dirty="0">
                <a:ln>
                  <a:noFill/>
                </a:ln>
                <a:solidFill>
                  <a:schemeClr val="tx1"/>
                </a:solidFill>
                <a:effectLst/>
                <a:latin typeface="Arial" panose="020B0604020202020204" pitchFamily="34" charset="0"/>
              </a:rPr>
              <a:t> </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Arial" panose="020B0604020202020204" pitchFamily="34" charset="0"/>
              </a:rPr>
              <a:t>Publish the dashboard on </a:t>
            </a:r>
            <a:r>
              <a:rPr kumimoji="0" lang="en-US" altLang="en-US" sz="1900" b="1" i="0" u="none" strike="noStrike" cap="none" normalizeH="0" baseline="0" dirty="0">
                <a:ln>
                  <a:noFill/>
                </a:ln>
                <a:solidFill>
                  <a:schemeClr val="tx1"/>
                </a:solidFill>
                <a:effectLst/>
                <a:latin typeface="Arial" panose="020B0604020202020204" pitchFamily="34" charset="0"/>
              </a:rPr>
              <a:t>Power BI Service</a:t>
            </a:r>
            <a:r>
              <a:rPr kumimoji="0" lang="en-US" altLang="en-US" sz="1900" b="0" i="0" u="none" strike="noStrike" cap="none" normalizeH="0" baseline="0" dirty="0">
                <a:ln>
                  <a:noFill/>
                </a:ln>
                <a:solidFill>
                  <a:schemeClr val="tx1"/>
                </a:solidFill>
                <a:effectLst/>
                <a:latin typeface="Arial" panose="020B0604020202020204" pitchFamily="34" charset="0"/>
              </a:rPr>
              <a:t> for collaboration and sharing. </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Arial" panose="020B0604020202020204" pitchFamily="34" charset="0"/>
              </a:rPr>
              <a:t>Integrate with </a:t>
            </a:r>
            <a:r>
              <a:rPr kumimoji="0" lang="en-US" altLang="en-US" sz="1900" b="1" i="0" u="none" strike="noStrike" cap="none" normalizeH="0" baseline="0" dirty="0">
                <a:ln>
                  <a:noFill/>
                </a:ln>
                <a:solidFill>
                  <a:schemeClr val="tx1"/>
                </a:solidFill>
                <a:effectLst/>
                <a:latin typeface="Arial" panose="020B0604020202020204" pitchFamily="34" charset="0"/>
              </a:rPr>
              <a:t>Azure Cloud</a:t>
            </a:r>
            <a:r>
              <a:rPr kumimoji="0" lang="en-US" altLang="en-US" sz="1900" b="0" i="0" u="none" strike="noStrike" cap="none" normalizeH="0" baseline="0" dirty="0">
                <a:ln>
                  <a:noFill/>
                </a:ln>
                <a:solidFill>
                  <a:schemeClr val="tx1"/>
                </a:solidFill>
                <a:effectLst/>
                <a:latin typeface="Arial" panose="020B0604020202020204" pitchFamily="34" charset="0"/>
              </a:rPr>
              <a:t> for scalability and real‑time updates. </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Arial" panose="020B0604020202020204" pitchFamily="34" charset="0"/>
              </a:rPr>
              <a:t>Ensure accessibility across devices for decision‑makers. </a:t>
            </a:r>
          </a:p>
          <a:p>
            <a:pPr marL="914400" marR="0" lvl="2" indent="0" algn="l" defTabSz="914400" rtl="0" eaLnBrk="0" fontAlgn="base" latinLnBrk="0" hangingPunct="0">
              <a:lnSpc>
                <a:spcPct val="100000"/>
              </a:lnSpc>
              <a:spcBef>
                <a:spcPct val="0"/>
              </a:spcBef>
              <a:spcAft>
                <a:spcPct val="0"/>
              </a:spcAft>
              <a:buClrTx/>
              <a:buSzTx/>
              <a:tabLst/>
            </a:pPr>
            <a:endParaRPr kumimoji="0" lang="en-US" altLang="en-US" sz="1900" b="0" i="0" u="none" strike="noStrike" cap="none" normalizeH="0" baseline="0" dirty="0">
              <a:ln>
                <a:noFill/>
              </a:ln>
              <a:solidFill>
                <a:schemeClr val="tx1"/>
              </a:solidFill>
              <a:effectLst/>
              <a:latin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buFontTx/>
              <a:buAutoNum type="arabicPeriod" startAt="4"/>
              <a:tabLst/>
            </a:pPr>
            <a:r>
              <a:rPr kumimoji="0" lang="en-US" altLang="en-US" sz="1900" b="1" i="0" u="none" strike="noStrike" cap="none" normalizeH="0" baseline="0" dirty="0">
                <a:ln>
                  <a:noFill/>
                </a:ln>
                <a:solidFill>
                  <a:schemeClr val="tx1"/>
                </a:solidFill>
                <a:effectLst/>
                <a:latin typeface="Arial" panose="020B0604020202020204" pitchFamily="34" charset="0"/>
              </a:rPr>
              <a:t>Value Addition</a:t>
            </a:r>
            <a:r>
              <a:rPr kumimoji="0" lang="en-US" altLang="en-US" sz="1900" b="0" i="0" u="none" strike="noStrike" cap="none" normalizeH="0" baseline="0" dirty="0">
                <a:ln>
                  <a:noFill/>
                </a:ln>
                <a:solidFill>
                  <a:schemeClr val="tx1"/>
                </a:solidFill>
                <a:effectLst/>
                <a:latin typeface="Arial" panose="020B0604020202020204" pitchFamily="34" charset="0"/>
              </a:rPr>
              <a:t>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Arial" panose="020B0604020202020204" pitchFamily="34" charset="0"/>
              </a:rPr>
              <a:t>Provide insights into top‑performing categories, regions, and customer segments.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Arial" panose="020B0604020202020204" pitchFamily="34" charset="0"/>
              </a:rPr>
              <a:t>Highlight the impact of discounts and shipping modes on profitability.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Arial" panose="020B0604020202020204" pitchFamily="34" charset="0"/>
              </a:rPr>
              <a:t>Enable forecasting and scenario analysis using Power BI’s advanced features.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9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589344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408922"/>
            <a:ext cx="10515600" cy="5144277"/>
          </a:xfrm>
        </p:spPr>
        <p:txBody>
          <a:bodyPr vert="horz" lIns="91440" tIns="45720" rIns="91440" bIns="45720" rtlCol="0">
            <a:normAutofit/>
          </a:bodyPr>
          <a:lstStyle/>
          <a:p>
            <a:pPr marL="0" indent="0">
              <a:spcBef>
                <a:spcPct val="20000"/>
              </a:spcBef>
              <a:spcAft>
                <a:spcPts val="600"/>
              </a:spcAft>
              <a:buNone/>
            </a:pPr>
            <a:r>
              <a:rPr lang="en-US" sz="1700" dirty="0"/>
              <a:t>The development of the </a:t>
            </a:r>
            <a:r>
              <a:rPr lang="en-US" sz="1700" b="1" dirty="0"/>
              <a:t>E‑Commerce Report Analysis Dashboard</a:t>
            </a:r>
            <a:r>
              <a:rPr lang="en-US" sz="1700" dirty="0"/>
              <a:t> follows a structured approach to ensure accuracy, scalability, and usability. The methodology combines data preparation, visualization design, and deployment on cloud platforms for real‑time accessibility</a:t>
            </a:r>
            <a:r>
              <a:rPr lang="en-US" sz="2400" dirty="0"/>
              <a:t>.</a:t>
            </a:r>
          </a:p>
          <a:p>
            <a:r>
              <a:rPr lang="en-IN" sz="1800" b="1" dirty="0"/>
              <a:t>1. System Requirements</a:t>
            </a:r>
          </a:p>
          <a:p>
            <a:r>
              <a:rPr lang="en-IN" sz="1800" b="1" dirty="0"/>
              <a:t>Software: </a:t>
            </a:r>
            <a:r>
              <a:rPr lang="en-US" sz="1800" dirty="0"/>
              <a:t>Power BI Desktop for modeling and visualization, Power BI Service for deployment, Azure Cloud for scalability.</a:t>
            </a:r>
            <a:endParaRPr lang="en-IN" sz="1800" dirty="0"/>
          </a:p>
          <a:p>
            <a:r>
              <a:rPr lang="en-IN" sz="1800" b="1" dirty="0"/>
              <a:t>Hardware: </a:t>
            </a:r>
            <a:r>
              <a:rPr lang="en-US" sz="1800" dirty="0"/>
              <a:t>Standard laptop/PC with Windows 10/11, minimum 8GB RAM recommended for smooth processing.</a:t>
            </a:r>
            <a:endParaRPr lang="en-IN" sz="1800" dirty="0"/>
          </a:p>
          <a:p>
            <a:r>
              <a:rPr lang="en-IN" sz="1800" b="1" dirty="0"/>
              <a:t>Data Source: </a:t>
            </a:r>
            <a:r>
              <a:rPr lang="en-IN" sz="1800" dirty="0"/>
              <a:t>Historical e‑commerce dataset (orders, sales, profit, discounts, shipping modes, customer segments, regions)</a:t>
            </a:r>
          </a:p>
          <a:p>
            <a:r>
              <a:rPr lang="en-IN" sz="1800" b="1" dirty="0"/>
              <a:t>2. Libraries/ Tools: </a:t>
            </a:r>
          </a:p>
          <a:p>
            <a:endParaRPr lang="en-IN" sz="1800" dirty="0"/>
          </a:p>
          <a:p>
            <a:pPr marL="0" indent="0">
              <a:spcBef>
                <a:spcPct val="20000"/>
              </a:spcBef>
              <a:spcAft>
                <a:spcPts val="600"/>
              </a:spcAft>
              <a:buNone/>
            </a:pPr>
            <a:endParaRPr lang="en-GB" sz="1700" dirty="0"/>
          </a:p>
        </p:txBody>
      </p:sp>
      <p:sp>
        <p:nvSpPr>
          <p:cNvPr id="8" name="Rectangle 5">
            <a:extLst>
              <a:ext uri="{FF2B5EF4-FFF2-40B4-BE49-F238E27FC236}">
                <a16:creationId xmlns:a16="http://schemas.microsoft.com/office/drawing/2014/main" id="{7B6B5910-B469-8338-D417-D932AF4FB92B}"/>
              </a:ext>
            </a:extLst>
          </p:cNvPr>
          <p:cNvSpPr>
            <a:spLocks noChangeArrowheads="1"/>
          </p:cNvSpPr>
          <p:nvPr/>
        </p:nvSpPr>
        <p:spPr bwMode="auto">
          <a:xfrm>
            <a:off x="-365760" y="4949875"/>
            <a:ext cx="806182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2" eaLnBrk="0" fontAlgn="base" hangingPunct="0">
              <a:spcBef>
                <a:spcPct val="0"/>
              </a:spcBef>
              <a:spcAft>
                <a:spcPct val="0"/>
              </a:spcAft>
              <a:buFontTx/>
              <a:buChar char="•"/>
            </a:pPr>
            <a:r>
              <a:rPr kumimoji="0" lang="en-US" altLang="en-US" b="1" i="0" u="none" strike="noStrike" cap="none" normalizeH="0" baseline="0" dirty="0">
                <a:ln>
                  <a:noFill/>
                </a:ln>
                <a:solidFill>
                  <a:schemeClr val="tx1"/>
                </a:solidFill>
                <a:effectLst/>
                <a:latin typeface="Arial" panose="020B0604020202020204" pitchFamily="34" charset="0"/>
              </a:rPr>
              <a:t> </a:t>
            </a:r>
            <a:r>
              <a:rPr kumimoji="0" lang="en-US" altLang="en-US" sz="1700" b="1" i="0" u="none" strike="noStrike" cap="none" normalizeH="0" baseline="0" dirty="0">
                <a:ln>
                  <a:noFill/>
                </a:ln>
                <a:solidFill>
                  <a:schemeClr val="tx1"/>
                </a:solidFill>
                <a:effectLst/>
                <a:latin typeface="Arial" panose="020B0604020202020204" pitchFamily="34" charset="0"/>
              </a:rPr>
              <a:t>Power Query (M Language)</a:t>
            </a:r>
            <a:r>
              <a:rPr kumimoji="0" lang="en-US" altLang="en-US" sz="1700" b="0" i="0" u="none" strike="noStrike" cap="none" normalizeH="0" baseline="0" dirty="0">
                <a:ln>
                  <a:noFill/>
                </a:ln>
                <a:solidFill>
                  <a:schemeClr val="tx1"/>
                </a:solidFill>
                <a:effectLst/>
                <a:latin typeface="Arial" panose="020B0604020202020204" pitchFamily="34" charset="0"/>
              </a:rPr>
              <a:t> for data cleaning and transformation.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6">
            <a:extLst>
              <a:ext uri="{FF2B5EF4-FFF2-40B4-BE49-F238E27FC236}">
                <a16:creationId xmlns:a16="http://schemas.microsoft.com/office/drawing/2014/main" id="{030E26BD-9D48-5BB1-1613-7AA63E0463FF}"/>
              </a:ext>
            </a:extLst>
          </p:cNvPr>
          <p:cNvSpPr>
            <a:spLocks noChangeArrowheads="1"/>
          </p:cNvSpPr>
          <p:nvPr/>
        </p:nvSpPr>
        <p:spPr bwMode="auto">
          <a:xfrm>
            <a:off x="-803893" y="5280734"/>
            <a:ext cx="8549072" cy="6309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3" eaLnBrk="0" fontAlgn="base" hangingPunct="0">
              <a:spcBef>
                <a:spcPct val="0"/>
              </a:spcBef>
              <a:spcAft>
                <a:spcPct val="0"/>
              </a:spcAft>
              <a:buFontTx/>
              <a:buChar char="•"/>
            </a:pPr>
            <a:r>
              <a:rPr kumimoji="0" lang="en-US" altLang="en-US" sz="1700" b="1" i="0" u="none" strike="noStrike" cap="none" normalizeH="0" baseline="0" dirty="0">
                <a:ln>
                  <a:noFill/>
                </a:ln>
                <a:solidFill>
                  <a:schemeClr val="tx1"/>
                </a:solidFill>
                <a:effectLst/>
                <a:latin typeface="Arial" panose="020B0604020202020204" pitchFamily="34" charset="0"/>
              </a:rPr>
              <a:t>DAX (Data Analysis Expressions)</a:t>
            </a:r>
            <a:r>
              <a:rPr kumimoji="0" lang="en-US" altLang="en-US" sz="1700" b="0" i="0" u="none" strike="noStrike" cap="none" normalizeH="0" baseline="0" dirty="0">
                <a:ln>
                  <a:noFill/>
                </a:ln>
                <a:solidFill>
                  <a:schemeClr val="tx1"/>
                </a:solidFill>
                <a:effectLst/>
                <a:latin typeface="Arial" panose="020B0604020202020204" pitchFamily="34" charset="0"/>
              </a:rPr>
              <a:t> for calculated measures and KPIs.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Rectangle 7">
            <a:extLst>
              <a:ext uri="{FF2B5EF4-FFF2-40B4-BE49-F238E27FC236}">
                <a16:creationId xmlns:a16="http://schemas.microsoft.com/office/drawing/2014/main" id="{36312DF8-2A79-A9A5-CCBF-46E48A4DC56F}"/>
              </a:ext>
            </a:extLst>
          </p:cNvPr>
          <p:cNvSpPr>
            <a:spLocks noChangeArrowheads="1"/>
          </p:cNvSpPr>
          <p:nvPr/>
        </p:nvSpPr>
        <p:spPr bwMode="auto">
          <a:xfrm>
            <a:off x="558800" y="5603900"/>
            <a:ext cx="6260945" cy="6309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700" b="1" i="0" u="none" strike="noStrike" cap="none" normalizeH="0" baseline="0" dirty="0">
                <a:ln>
                  <a:noFill/>
                </a:ln>
                <a:solidFill>
                  <a:schemeClr val="tx1"/>
                </a:solidFill>
                <a:effectLst/>
                <a:latin typeface="Arial" panose="020B0604020202020204" pitchFamily="34" charset="0"/>
              </a:rPr>
              <a:t>Power BI Visuals Library</a:t>
            </a:r>
            <a:r>
              <a:rPr kumimoji="0" lang="en-US" altLang="en-US" sz="1700" b="0" i="0" u="none" strike="noStrike" cap="none" normalizeH="0" baseline="0" dirty="0">
                <a:ln>
                  <a:noFill/>
                </a:ln>
                <a:solidFill>
                  <a:schemeClr val="tx1"/>
                </a:solidFill>
                <a:effectLst/>
                <a:latin typeface="Arial" panose="020B0604020202020204" pitchFamily="34" charset="0"/>
              </a:rPr>
              <a:t> for charts, maps, and dashboards.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Rectangle 8">
            <a:extLst>
              <a:ext uri="{FF2B5EF4-FFF2-40B4-BE49-F238E27FC236}">
                <a16:creationId xmlns:a16="http://schemas.microsoft.com/office/drawing/2014/main" id="{B926D5EC-657E-D2ED-3572-C167B4B7C23F}"/>
              </a:ext>
            </a:extLst>
          </p:cNvPr>
          <p:cNvSpPr>
            <a:spLocks noChangeArrowheads="1"/>
          </p:cNvSpPr>
          <p:nvPr/>
        </p:nvSpPr>
        <p:spPr bwMode="auto">
          <a:xfrm>
            <a:off x="317409" y="5919371"/>
            <a:ext cx="1106424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700" b="1" i="0" u="none" strike="noStrike" cap="none" normalizeH="0" baseline="0" dirty="0">
                <a:ln>
                  <a:noFill/>
                </a:ln>
                <a:solidFill>
                  <a:schemeClr val="tx1"/>
                </a:solidFill>
                <a:effectLst/>
                <a:latin typeface="Arial" panose="020B0604020202020204" pitchFamily="34" charset="0"/>
              </a:rPr>
              <a:t>Methodology</a:t>
            </a:r>
            <a:r>
              <a:rPr kumimoji="0" lang="en-US" altLang="en-US" sz="1700" b="0" i="0" u="none" strike="noStrike" cap="none" normalizeH="0" baseline="0" dirty="0">
                <a:ln>
                  <a:noFill/>
                </a:ln>
                <a:solidFill>
                  <a:schemeClr val="tx1"/>
                </a:solidFill>
                <a:effectLst/>
                <a:latin typeface="Arial" panose="020B0604020202020204" pitchFamily="34" charset="0"/>
              </a:rPr>
              <a:t>: Import raw data → Clean and preprocess → Build relationships → Create KPIs and visuals → Deploy and share</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Algorithm &amp; Deployment:</a:t>
            </a:r>
            <a:endParaRPr lang="en-US" sz="4000" dirty="0"/>
          </a:p>
        </p:txBody>
      </p:sp>
      <p:sp>
        <p:nvSpPr>
          <p:cNvPr id="3" name="Content Placeholder 2"/>
          <p:cNvSpPr>
            <a:spLocks noGrp="1"/>
          </p:cNvSpPr>
          <p:nvPr>
            <p:ph idx="1"/>
          </p:nvPr>
        </p:nvSpPr>
        <p:spPr>
          <a:xfrm>
            <a:off x="266700" y="1513840"/>
            <a:ext cx="10515600" cy="4947920"/>
          </a:xfrm>
        </p:spPr>
        <p:txBody>
          <a:bodyPr vert="horz" lIns="91440" tIns="45720" rIns="91440" bIns="45720" rtlCol="0">
            <a:normAutofit/>
          </a:bodyPr>
          <a:lstStyle/>
          <a:p>
            <a:pPr marL="305435" indent="-305435">
              <a:spcBef>
                <a:spcPct val="20000"/>
              </a:spcBef>
              <a:spcAft>
                <a:spcPts val="600"/>
              </a:spcAft>
              <a:buFont typeface="Arial" panose="020B0604020202020204"/>
              <a:buChar char="•"/>
            </a:pPr>
            <a:r>
              <a:rPr lang="en-IN" sz="1500" dirty="0">
                <a:latin typeface="Franklin Gothic Book" panose="020B0503020102020204"/>
              </a:rPr>
              <a:t>In the Algorithm section, we describe the analytical report on E-commerce. Here's an example structure for this section:</a:t>
            </a:r>
          </a:p>
          <a:p>
            <a:pPr marL="305435" indent="-305435">
              <a:spcBef>
                <a:spcPct val="20000"/>
              </a:spcBef>
              <a:spcAft>
                <a:spcPts val="600"/>
              </a:spcAft>
              <a:buFont typeface="Arial" panose="020B0604020202020204"/>
              <a:buChar char="•"/>
            </a:pPr>
            <a:r>
              <a:rPr lang="en-IN" sz="1500" b="1" dirty="0">
                <a:latin typeface="Franklin Gothic Book" panose="020B0503020102020204"/>
              </a:rPr>
              <a:t>Algorithm Selection:</a:t>
            </a:r>
            <a:endParaRPr lang="en-IN" sz="1500" dirty="0">
              <a:latin typeface="Franklin Gothic Book" panose="020B0503020102020204"/>
            </a:endParaRPr>
          </a:p>
          <a:p>
            <a:pPr marL="629920" lvl="1" indent="-305435">
              <a:spcBef>
                <a:spcPct val="20000"/>
              </a:spcBef>
              <a:spcAft>
                <a:spcPts val="600"/>
              </a:spcAft>
              <a:buFont typeface="Arial" panose="020B0604020202020204"/>
              <a:buChar char="•"/>
            </a:pPr>
            <a:r>
              <a:rPr lang="en-US" sz="1800" dirty="0"/>
              <a:t>Descriptive</a:t>
            </a:r>
            <a:r>
              <a:rPr lang="en-US" sz="1600" dirty="0"/>
              <a:t> analytics with Power BI; forecasting using built‑in models (e.g., regression, exponential smoothing).</a:t>
            </a:r>
            <a:r>
              <a:rPr lang="en-IN" sz="1500" dirty="0">
                <a:latin typeface="Franklin Gothic Book" panose="020B0503020102020204"/>
              </a:rPr>
              <a:t>.</a:t>
            </a:r>
          </a:p>
          <a:p>
            <a:pPr marL="305435" indent="-305435">
              <a:spcBef>
                <a:spcPct val="20000"/>
              </a:spcBef>
              <a:spcAft>
                <a:spcPts val="600"/>
              </a:spcAft>
              <a:buFont typeface="Arial" panose="020B0604020202020204"/>
              <a:buChar char="•"/>
            </a:pPr>
            <a:r>
              <a:rPr lang="en-IN" sz="1500" b="1" dirty="0">
                <a:latin typeface="Franklin Gothic Book" panose="020B0503020102020204"/>
              </a:rPr>
              <a:t>Data Input:</a:t>
            </a:r>
          </a:p>
          <a:p>
            <a:pPr marL="305435" indent="-305435">
              <a:spcBef>
                <a:spcPct val="20000"/>
              </a:spcBef>
              <a:spcAft>
                <a:spcPts val="600"/>
              </a:spcAft>
              <a:buFont typeface="Arial" panose="020B0604020202020204"/>
              <a:buChar char="•"/>
            </a:pPr>
            <a:r>
              <a:rPr lang="en-US" sz="1600" dirty="0"/>
              <a:t>Orders, sales, profit, discounts, shipping mode, customer segment, region.</a:t>
            </a:r>
            <a:endParaRPr lang="en-IN" sz="1500" dirty="0">
              <a:latin typeface="Franklin Gothic Book" panose="020B0503020102020204"/>
            </a:endParaRPr>
          </a:p>
          <a:p>
            <a:pPr marL="305435" indent="-305435">
              <a:spcBef>
                <a:spcPct val="20000"/>
              </a:spcBef>
              <a:spcAft>
                <a:spcPts val="600"/>
              </a:spcAft>
              <a:buFont typeface="Arial" panose="020B0604020202020204"/>
              <a:buChar char="•"/>
            </a:pPr>
            <a:r>
              <a:rPr lang="en-IN" sz="1500" b="1" dirty="0">
                <a:latin typeface="Franklin Gothic Book" panose="020B0503020102020204"/>
              </a:rPr>
              <a:t>Training Process:</a:t>
            </a:r>
            <a:endParaRPr lang="en-IN" sz="1500" dirty="0">
              <a:latin typeface="Franklin Gothic Book" panose="020B0503020102020204"/>
            </a:endParaRPr>
          </a:p>
          <a:p>
            <a:pPr marL="629920" lvl="1" indent="-305435">
              <a:spcBef>
                <a:spcPct val="20000"/>
              </a:spcBef>
              <a:spcAft>
                <a:spcPts val="600"/>
              </a:spcAft>
              <a:buFont typeface="Arial" panose="020B0604020202020204"/>
              <a:buChar char="•"/>
            </a:pPr>
            <a:r>
              <a:rPr lang="en-US" sz="1600" dirty="0"/>
              <a:t>Data modeling in Power BI; relationships established; KPIs calculated using DAX.</a:t>
            </a:r>
            <a:r>
              <a:rPr lang="en-IN" sz="1500" dirty="0">
                <a:latin typeface="Franklin Gothic Book" panose="020B0503020102020204"/>
              </a:rPr>
              <a:t>.</a:t>
            </a:r>
          </a:p>
          <a:p>
            <a:pPr marL="305435" indent="-305435">
              <a:spcBef>
                <a:spcPct val="20000"/>
              </a:spcBef>
              <a:spcAft>
                <a:spcPts val="600"/>
              </a:spcAft>
              <a:buFont typeface="Arial" panose="020B0604020202020204"/>
              <a:buChar char="•"/>
            </a:pPr>
            <a:r>
              <a:rPr lang="en-IN" sz="1500" b="1" dirty="0">
                <a:latin typeface="Franklin Gothic Book" panose="020B0503020102020204"/>
              </a:rPr>
              <a:t>Prediction Process:</a:t>
            </a:r>
            <a:endParaRPr lang="en-IN" sz="1500" dirty="0">
              <a:latin typeface="Franklin Gothic Book" panose="020B0503020102020204"/>
            </a:endParaRPr>
          </a:p>
          <a:p>
            <a:pPr marL="629920" lvl="1" indent="-305435">
              <a:spcBef>
                <a:spcPct val="20000"/>
              </a:spcBef>
              <a:spcAft>
                <a:spcPts val="600"/>
              </a:spcAft>
              <a:buFont typeface="Arial" panose="020B0604020202020204"/>
              <a:buChar char="•"/>
            </a:pPr>
            <a:r>
              <a:rPr lang="en-US" sz="1600" dirty="0"/>
              <a:t>Forecasting sales and profit trends; scenario analysis for discounts and shipping modes</a:t>
            </a:r>
            <a:r>
              <a:rPr lang="en-IN" sz="1500" dirty="0">
                <a:latin typeface="Franklin Gothic Book" panose="020B0503020102020204"/>
              </a:rPr>
              <a:t>.</a:t>
            </a:r>
            <a:endParaRPr lang="en-GB" sz="1500" dirty="0">
              <a:latin typeface="Franklin Gothic Book" panose="020B0503020102020204"/>
            </a:endParaRPr>
          </a:p>
          <a:p>
            <a:pPr marL="629920" lvl="1" indent="-305435">
              <a:spcBef>
                <a:spcPct val="20000"/>
              </a:spcBef>
              <a:spcAft>
                <a:spcPts val="600"/>
              </a:spcAft>
              <a:buFont typeface="Arial" panose="020B0604020202020204"/>
              <a:buChar char="•"/>
            </a:pPr>
            <a:endParaRPr lang="en-IN" sz="1500" dirty="0">
              <a:latin typeface="Franklin Gothic Book" panose="020B0503020102020204"/>
            </a:endParaRPr>
          </a:p>
        </p:txBody>
      </p:sp>
      <p:sp>
        <p:nvSpPr>
          <p:cNvPr id="4" name="Rectangle 1">
            <a:extLst>
              <a:ext uri="{FF2B5EF4-FFF2-40B4-BE49-F238E27FC236}">
                <a16:creationId xmlns:a16="http://schemas.microsoft.com/office/drawing/2014/main" id="{57C1C2A9-640B-F414-20CC-10442134AC25}"/>
              </a:ext>
            </a:extLst>
          </p:cNvPr>
          <p:cNvSpPr>
            <a:spLocks noChangeArrowheads="1"/>
          </p:cNvSpPr>
          <p:nvPr/>
        </p:nvSpPr>
        <p:spPr bwMode="auto">
          <a:xfrm>
            <a:off x="-599440" y="4839271"/>
            <a:ext cx="9903460"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2" eaLnBrk="0" fontAlgn="base" hangingPunct="0">
              <a:spcBef>
                <a:spcPct val="0"/>
              </a:spcBef>
              <a:spcAft>
                <a:spcPct val="0"/>
              </a:spcAft>
              <a:buFontTx/>
              <a:buChar char="•"/>
            </a:pPr>
            <a:r>
              <a:rPr kumimoji="0" lang="en-US" altLang="en-US" sz="1600" b="1" i="0" u="none" strike="noStrike" cap="none" normalizeH="0" baseline="0" dirty="0">
                <a:ln>
                  <a:noFill/>
                </a:ln>
                <a:solidFill>
                  <a:schemeClr val="tx1"/>
                </a:solidFill>
                <a:effectLst/>
                <a:latin typeface="Franklin Gothic Book" panose="020B0503020102020204" pitchFamily="34" charset="0"/>
              </a:rPr>
              <a:t>Deployment</a:t>
            </a:r>
            <a:r>
              <a:rPr kumimoji="0" lang="en-US" altLang="en-US" sz="1600" b="0" i="0" u="none" strike="noStrike" cap="none" normalizeH="0" baseline="0" dirty="0">
                <a:ln>
                  <a:noFill/>
                </a:ln>
                <a:solidFill>
                  <a:schemeClr val="tx1"/>
                </a:solidFill>
                <a:effectLst/>
                <a:latin typeface="Franklin Gothic Book" panose="020B0503020102020204" pitchFamily="34" charset="0"/>
              </a:rPr>
              <a:t>:</a:t>
            </a:r>
            <a:br>
              <a:rPr kumimoji="0" lang="en-US" altLang="en-US" sz="1600" b="0" i="0" u="none" strike="noStrike" cap="none" normalizeH="0" baseline="0" dirty="0">
                <a:ln>
                  <a:noFill/>
                </a:ln>
                <a:solidFill>
                  <a:schemeClr val="tx1"/>
                </a:solidFill>
                <a:effectLst/>
                <a:latin typeface="Arial" panose="020B0604020202020204" pitchFamily="34" charset="0"/>
              </a:rPr>
            </a:br>
            <a:r>
              <a:rPr kumimoji="0" lang="en-US" altLang="en-US" sz="1600" b="1" i="0" u="none" strike="noStrike" cap="none" normalizeH="0" baseline="0" dirty="0">
                <a:ln>
                  <a:noFill/>
                </a:ln>
                <a:solidFill>
                  <a:schemeClr val="tx1"/>
                </a:solidFill>
                <a:effectLst/>
                <a:latin typeface="Arial" panose="020B0604020202020204" pitchFamily="34" charset="0"/>
              </a:rPr>
              <a:t>    .  </a:t>
            </a:r>
            <a:r>
              <a:rPr kumimoji="0" lang="en-US" altLang="en-US" sz="1600" b="0" i="0" u="none" strike="noStrike" cap="none" normalizeH="0" baseline="0" dirty="0">
                <a:ln>
                  <a:noFill/>
                </a:ln>
                <a:solidFill>
                  <a:schemeClr val="tx1"/>
                </a:solidFill>
                <a:effectLst/>
              </a:rPr>
              <a:t>Dashboard published on Power BI Service; integrated with Azure for scalability and real‑time   updates; accessible across devices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Result:</a:t>
            </a:r>
            <a:endParaRPr lang="en-US" sz="4000" dirty="0"/>
          </a:p>
        </p:txBody>
      </p:sp>
      <p:sp>
        <p:nvSpPr>
          <p:cNvPr id="3" name="Content Placeholder 2"/>
          <p:cNvSpPr>
            <a:spLocks noGrp="1"/>
          </p:cNvSpPr>
          <p:nvPr>
            <p:ph idx="1"/>
          </p:nvPr>
        </p:nvSpPr>
        <p:spPr>
          <a:xfrm>
            <a:off x="338137" y="1280160"/>
            <a:ext cx="10515600" cy="4555903"/>
          </a:xfrm>
        </p:spPr>
        <p:txBody>
          <a:bodyPr vert="horz" lIns="91440" tIns="45720" rIns="91440" bIns="45720" rtlCol="0">
            <a:normAutofit/>
          </a:bodyPr>
          <a:lstStyle/>
          <a:p>
            <a:r>
              <a:rPr lang="en-US" sz="2400" dirty="0"/>
              <a:t>The dashboard provides clear insights into e‑commerce performance:</a:t>
            </a:r>
          </a:p>
          <a:p>
            <a:r>
              <a:rPr lang="en-US" sz="2400" b="1" dirty="0"/>
              <a:t>Sales by Category</a:t>
            </a:r>
            <a:r>
              <a:rPr lang="en-US" sz="2400" dirty="0"/>
              <a:t>: Technology leads (~0.9M).</a:t>
            </a:r>
          </a:p>
          <a:p>
            <a:r>
              <a:rPr lang="en-US" sz="2400" b="1" dirty="0"/>
              <a:t>Profit by Subcategory</a:t>
            </a:r>
            <a:r>
              <a:rPr lang="en-US" sz="2400" dirty="0"/>
              <a:t>: Copiers and Phones are top contributors.</a:t>
            </a:r>
          </a:p>
          <a:p>
            <a:r>
              <a:rPr lang="en-US" sz="2400" b="1" dirty="0"/>
              <a:t>Regional Sales</a:t>
            </a:r>
            <a:r>
              <a:rPr lang="en-US" sz="2400" dirty="0"/>
              <a:t>: West region dominates (31.58%).</a:t>
            </a:r>
          </a:p>
          <a:p>
            <a:r>
              <a:rPr lang="en-US" sz="2400" b="1" dirty="0"/>
              <a:t>Customer Segments</a:t>
            </a:r>
            <a:r>
              <a:rPr lang="en-US" sz="2400" dirty="0"/>
              <a:t>: Consumer segment contributes over 50% of sales.</a:t>
            </a:r>
          </a:p>
          <a:p>
            <a:r>
              <a:rPr lang="en-US" sz="2400" b="1" dirty="0"/>
              <a:t>Discount Analysis</a:t>
            </a:r>
            <a:r>
              <a:rPr lang="en-US" sz="2400" dirty="0"/>
              <a:t>: Majority of orders placed without discounts, ensuring profitability.</a:t>
            </a:r>
          </a:p>
          <a:p>
            <a:r>
              <a:rPr lang="en-US" sz="2400" dirty="0"/>
              <a:t> The dashboard demonstrate its effectiveness in visualizing KPIs and trends</a:t>
            </a:r>
            <a:r>
              <a:rPr lang="en-US" sz="1600" dirty="0"/>
              <a:t>.</a:t>
            </a:r>
          </a:p>
          <a:p>
            <a:pPr marL="0" indent="0">
              <a:buNone/>
            </a:pPr>
            <a:r>
              <a:rPr lang="en-IN" sz="1600" dirty="0">
                <a:latin typeface="Franklin Gothic Book" panose="020B0503020102020204"/>
              </a:rPr>
              <a:t>.</a:t>
            </a:r>
            <a:r>
              <a:rPr lang="en-IN" sz="1600" b="1" dirty="0">
                <a:latin typeface="Franklin Gothic Book" panose="020B0503020102020204"/>
              </a:rPr>
              <a:t>FINAL DASHBOARD LINK : </a:t>
            </a:r>
          </a:p>
          <a:p>
            <a:pPr marL="0" indent="0">
              <a:buNone/>
            </a:pP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D9B01-3422-74BF-9BB9-900BA695E88C}"/>
              </a:ext>
            </a:extLst>
          </p:cNvPr>
          <p:cNvSpPr>
            <a:spLocks noGrp="1"/>
          </p:cNvSpPr>
          <p:nvPr>
            <p:ph type="title"/>
          </p:nvPr>
        </p:nvSpPr>
        <p:spPr/>
        <p:txBody>
          <a:bodyPr/>
          <a:lstStyle/>
          <a:p>
            <a:r>
              <a:rPr lang="en-US" dirty="0"/>
              <a:t>RESULT</a:t>
            </a:r>
            <a:br>
              <a:rPr lang="en-US" dirty="0"/>
            </a:br>
            <a:endParaRPr lang="en-IN" dirty="0"/>
          </a:p>
        </p:txBody>
      </p:sp>
      <p:pic>
        <p:nvPicPr>
          <p:cNvPr id="5" name="Content Placeholder 4">
            <a:extLst>
              <a:ext uri="{FF2B5EF4-FFF2-40B4-BE49-F238E27FC236}">
                <a16:creationId xmlns:a16="http://schemas.microsoft.com/office/drawing/2014/main" id="{5EF501A8-DCF4-4CAE-B3EE-780937F971F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prstGeom prst="rect">
            <a:avLst/>
          </a:prstGeom>
          <a:ln w="228600" cap="sq" cmpd="thickThin">
            <a:solidFill>
              <a:srgbClr val="000000"/>
            </a:solidFill>
            <a:prstDash val="solid"/>
            <a:miter lim="800000"/>
          </a:ln>
          <a:effectLst>
            <a:innerShdw blurRad="76200">
              <a:srgbClr val="000000"/>
            </a:innerShdw>
          </a:effectLst>
        </p:spPr>
      </p:pic>
      <p:pic>
        <p:nvPicPr>
          <p:cNvPr id="7" name="Picture 6">
            <a:extLst>
              <a:ext uri="{FF2B5EF4-FFF2-40B4-BE49-F238E27FC236}">
                <a16:creationId xmlns:a16="http://schemas.microsoft.com/office/drawing/2014/main" id="{738FB6BF-62B9-B6C3-5073-4A0B7E98AC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664" y="772160"/>
            <a:ext cx="11695856" cy="5852160"/>
          </a:xfrm>
          <a:prstGeom prst="rect">
            <a:avLst/>
          </a:prstGeom>
        </p:spPr>
      </p:pic>
    </p:spTree>
    <p:extLst>
      <p:ext uri="{BB962C8B-B14F-4D97-AF65-F5344CB8AC3E}">
        <p14:creationId xmlns:p14="http://schemas.microsoft.com/office/powerpoint/2010/main" val="22958516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A742F-73E7-4769-111A-69E3D6656144}"/>
              </a:ext>
            </a:extLst>
          </p:cNvPr>
          <p:cNvSpPr>
            <a:spLocks noGrp="1"/>
          </p:cNvSpPr>
          <p:nvPr>
            <p:ph type="title"/>
          </p:nvPr>
        </p:nvSpPr>
        <p:spPr/>
        <p:txBody>
          <a:bodyPr/>
          <a:lstStyle/>
          <a:p>
            <a:r>
              <a:rPr lang="en-US" dirty="0"/>
              <a:t>RESULT</a:t>
            </a:r>
            <a:endParaRPr lang="en-IN" dirty="0"/>
          </a:p>
        </p:txBody>
      </p:sp>
      <p:pic>
        <p:nvPicPr>
          <p:cNvPr id="5" name="Content Placeholder 4">
            <a:extLst>
              <a:ext uri="{FF2B5EF4-FFF2-40B4-BE49-F238E27FC236}">
                <a16:creationId xmlns:a16="http://schemas.microsoft.com/office/drawing/2014/main" id="{89D8D50E-C2DA-2DA1-5347-0E823874761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prstGeom prst="rect">
            <a:avLst/>
          </a:prstGeom>
          <a:ln w="228600" cap="sq" cmpd="thickThin">
            <a:solidFill>
              <a:srgbClr val="000000"/>
            </a:solidFill>
            <a:prstDash val="solid"/>
            <a:miter lim="800000"/>
          </a:ln>
          <a:effectLst>
            <a:innerShdw blurRad="76200">
              <a:srgbClr val="000000"/>
            </a:innerShdw>
          </a:effectLst>
        </p:spPr>
      </p:pic>
      <p:pic>
        <p:nvPicPr>
          <p:cNvPr id="7" name="Picture 6">
            <a:extLst>
              <a:ext uri="{FF2B5EF4-FFF2-40B4-BE49-F238E27FC236}">
                <a16:creationId xmlns:a16="http://schemas.microsoft.com/office/drawing/2014/main" id="{9BFEFCE9-E1FF-F2B0-425B-AAB9662ED1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2880" y="701040"/>
            <a:ext cx="11562080" cy="5923280"/>
          </a:xfrm>
          <a:prstGeom prst="rect">
            <a:avLst/>
          </a:prstGeom>
        </p:spPr>
      </p:pic>
    </p:spTree>
    <p:extLst>
      <p:ext uri="{BB962C8B-B14F-4D97-AF65-F5344CB8AC3E}">
        <p14:creationId xmlns:p14="http://schemas.microsoft.com/office/powerpoint/2010/main" val="3378297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382251-C99D-1886-6F78-063D025F4F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879868"/>
            <a:ext cx="10861039" cy="5585944"/>
          </a:xfrm>
          <a:prstGeom prst="rect">
            <a:avLst/>
          </a:prstGeom>
        </p:spPr>
      </p:pic>
    </p:spTree>
    <p:extLst>
      <p:ext uri="{BB962C8B-B14F-4D97-AF65-F5344CB8AC3E}">
        <p14:creationId xmlns:p14="http://schemas.microsoft.com/office/powerpoint/2010/main" val="17865754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93068" y="1727200"/>
            <a:ext cx="10669571" cy="5242560"/>
          </a:xfrm>
        </p:spPr>
        <p:txBody>
          <a:bodyPr vert="horz" lIns="91440" tIns="45720" rIns="91440" bIns="45720" rtlCol="0">
            <a:normAutofit fontScale="70000" lnSpcReduction="20000"/>
          </a:bodyPr>
          <a:lstStyle/>
          <a:p>
            <a:r>
              <a:rPr lang="en-US" sz="2400" dirty="0"/>
              <a:t>The </a:t>
            </a:r>
            <a:r>
              <a:rPr lang="en-US" sz="2400" b="1" dirty="0"/>
              <a:t>E‑Commerce Report Analysis Dashboard</a:t>
            </a:r>
            <a:r>
              <a:rPr lang="en-US" sz="2400" dirty="0"/>
              <a:t> effectively demonstrates how raw transactional data can be transformed into actionable business insights. By consolidating sales, profit, orders, and customer segment information into a single interactive platform, the dashboard provides decision‑makers with a clear and comprehensive view of business performance.</a:t>
            </a:r>
          </a:p>
          <a:p>
            <a:r>
              <a:rPr lang="en-US" sz="2400" dirty="0"/>
              <a:t>Key findings highlight that the </a:t>
            </a:r>
            <a:r>
              <a:rPr lang="en-US" sz="2400" b="1" dirty="0"/>
              <a:t>Technology category</a:t>
            </a:r>
            <a:r>
              <a:rPr lang="en-US" sz="2400" dirty="0"/>
              <a:t> contributes the highest sales (~0.9M), while </a:t>
            </a:r>
            <a:r>
              <a:rPr lang="en-US" sz="2400" b="1" dirty="0"/>
              <a:t>Copiers and Phones</a:t>
            </a:r>
            <a:r>
              <a:rPr lang="en-US" sz="2400" dirty="0"/>
              <a:t> are the most profitable subcategories. Regionally, the </a:t>
            </a:r>
            <a:r>
              <a:rPr lang="en-US" sz="2400" b="1" dirty="0"/>
              <a:t>West region dominates with 31.58% of total sales</a:t>
            </a:r>
            <a:r>
              <a:rPr lang="en-US" sz="2400" dirty="0"/>
              <a:t>, and the </a:t>
            </a:r>
            <a:r>
              <a:rPr lang="en-US" sz="2400" b="1" dirty="0"/>
              <a:t>Consumer segment accounts for more than half of overall revenue</a:t>
            </a:r>
            <a:r>
              <a:rPr lang="en-US" sz="2400" dirty="0"/>
              <a:t>, emphasizing the importance of customer segmentation in strategy planning. The analysis also reveals that most orders are placed without discounts, ensuring profitability, while shipping modes play a significant role in customer satisfaction and cost management.</a:t>
            </a:r>
          </a:p>
          <a:p>
            <a:r>
              <a:rPr lang="en-US" sz="2400" dirty="0"/>
              <a:t>Beyond the insights, the project underscores the importance of </a:t>
            </a:r>
            <a:r>
              <a:rPr lang="en-US" sz="2400" b="1" dirty="0"/>
              <a:t>data visualization and storytelling</a:t>
            </a:r>
            <a:r>
              <a:rPr lang="en-US" sz="2400" dirty="0"/>
              <a:t> in modern analytics. Instead of static reports, the dashboard enables interactive exploration, allowing managers to drill down into specific categories, regions, or customer segments. This dynamic approach ensures faster, smarter, and more informed decision‑making.</a:t>
            </a:r>
          </a:p>
          <a:p>
            <a:r>
              <a:rPr lang="en-US" sz="2400" dirty="0"/>
              <a:t>Challenges encountered during development included handling data inconsistencies, designing user‑friendly visuals, and ensuring scalability for larger datasets. However, these challenges were addressed through Power Query preprocessing, DAX calculations, and deployment on Power BI Service with Azure integration.</a:t>
            </a:r>
          </a:p>
          <a:p>
            <a:r>
              <a:rPr lang="en-US" sz="2400" dirty="0"/>
              <a:t>Ultimately, this project proves that a well‑designed dashboard is not just a reporting tool but a </a:t>
            </a:r>
            <a:r>
              <a:rPr lang="en-US" sz="2400" b="1" dirty="0"/>
              <a:t>strategic asset</a:t>
            </a:r>
            <a:r>
              <a:rPr lang="en-US" sz="2400" dirty="0"/>
              <a:t>. It empowers businesses to identify growth opportunities, optimize operations, and enhance customer satisfaction, making data a driver of competitive advantage in the digital economy.</a:t>
            </a:r>
          </a:p>
          <a:p>
            <a:pPr marL="0" indent="0">
              <a:buNone/>
            </a:pPr>
            <a:r>
              <a:rPr lang="en-IN" sz="2200" dirty="0">
                <a:latin typeface="Franklin Gothic Book" panose="020B0503020102020204"/>
              </a:rPr>
              <a:t>.</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389991" y="1629554"/>
            <a:ext cx="10515600" cy="5391006"/>
          </a:xfrm>
        </p:spPr>
        <p:txBody>
          <a:bodyPr vert="horz" lIns="91440" tIns="45720" rIns="91440" bIns="45720" rtlCol="0">
            <a:normAutofit/>
          </a:bodyPr>
          <a:lstStyle/>
          <a:p>
            <a:r>
              <a:rPr lang="en-US" sz="1900" dirty="0"/>
              <a:t>While</a:t>
            </a:r>
            <a:r>
              <a:rPr lang="en-US" sz="1400" dirty="0"/>
              <a:t> the current dashboard provides strong descriptive analytics and forecasting capabilities, there are several opportunities to enhance and expand the system in future iterations:</a:t>
            </a:r>
          </a:p>
          <a:p>
            <a:r>
              <a:rPr lang="en-US" sz="1400" b="1" dirty="0"/>
              <a:t>Predictive Analytics Integration</a:t>
            </a:r>
            <a:r>
              <a:rPr lang="en-US" sz="1400" dirty="0"/>
              <a:t>: Incorporating advanced machine learning models (e.g., regression, ARIMA, or LSTM) to forecast demand more accurately, such as predicting seasonal sales spikes or customer churn.</a:t>
            </a:r>
          </a:p>
          <a:p>
            <a:r>
              <a:rPr lang="en-US" sz="1400" b="1" dirty="0"/>
              <a:t>AI/ML Enhancements</a:t>
            </a:r>
            <a:r>
              <a:rPr lang="en-US" sz="1400" dirty="0"/>
              <a:t>: Adding intelligent features like recommendation systems to suggest profitable product bundles or personalized offers for specific customer segments.</a:t>
            </a:r>
          </a:p>
          <a:p>
            <a:r>
              <a:rPr lang="en-US" sz="1400" b="1" dirty="0"/>
              <a:t>Expanded Data Sources</a:t>
            </a:r>
            <a:r>
              <a:rPr lang="en-US" sz="1400" dirty="0"/>
              <a:t>: Extending beyond the current dataset to include external factors such as competitor pricing, marketing campaigns, or macroeconomic indicators, which would provide a more holistic view of performance.</a:t>
            </a:r>
          </a:p>
          <a:p>
            <a:r>
              <a:rPr lang="en-US" sz="1400" b="1" dirty="0"/>
              <a:t>Global &amp; Multi‑City Deployment</a:t>
            </a:r>
            <a:r>
              <a:rPr lang="en-US" sz="1400" dirty="0"/>
              <a:t>: Scaling the dashboard to handle datasets from multiple cities or regions, enabling comparative analysis across geographies and supporting global e‑commerce strategies.</a:t>
            </a:r>
          </a:p>
          <a:p>
            <a:r>
              <a:rPr lang="en-US" sz="1400" b="1" dirty="0"/>
              <a:t>Real‑Time Updates</a:t>
            </a:r>
            <a:r>
              <a:rPr lang="en-US" sz="1400" dirty="0"/>
              <a:t>: Integrating with live data streams through Azure to provide real‑time monitoring of orders, inventory, and customer behavior, ensuring faster decision‑making.</a:t>
            </a:r>
          </a:p>
          <a:p>
            <a:r>
              <a:rPr lang="en-US" sz="1400" b="1" dirty="0"/>
              <a:t>Natural Language Interaction</a:t>
            </a:r>
            <a:r>
              <a:rPr lang="en-US" sz="1400" dirty="0"/>
              <a:t>: Leveraging Microsoft Copilot or similar AI assistants to allow stakeholders to query the dashboard using simple language (e.g., “Show me last month’s profit by category”).</a:t>
            </a:r>
          </a:p>
          <a:p>
            <a:r>
              <a:rPr lang="en-US" sz="1400" b="1" dirty="0"/>
              <a:t>Edge Computing for Scalability</a:t>
            </a:r>
            <a:r>
              <a:rPr lang="en-US" sz="1400" dirty="0"/>
              <a:t>: Exploring edge computing solutions to process data closer to the source, improving performance and accessibility for businesses with large, distributed datasets.</a:t>
            </a:r>
          </a:p>
          <a:p>
            <a:pPr marL="0" indent="0">
              <a:spcBef>
                <a:spcPct val="20000"/>
              </a:spcBef>
              <a:spcAft>
                <a:spcPts val="600"/>
              </a:spcAft>
              <a:buNone/>
            </a:pPr>
            <a:endParaRPr lang="en-US" sz="1600" dirty="0">
              <a:latin typeface="Franklin Gothic Book" panose="020B0503020102020204"/>
            </a:endParaRPr>
          </a:p>
          <a:p>
            <a:pPr marL="0" indent="0">
              <a:spcBef>
                <a:spcPct val="20000"/>
              </a:spcBef>
              <a:spcAft>
                <a:spcPts val="600"/>
              </a:spcAft>
              <a:buNone/>
            </a:pPr>
            <a:r>
              <a:rPr lang="en-US" sz="2200" dirty="0">
                <a:latin typeface="Franklin Gothic Book" panose="020B0503020102020204"/>
              </a:rPr>
              <a:t>.</a:t>
            </a:r>
          </a:p>
          <a:p>
            <a:pPr marL="0" indent="0">
              <a:spcBef>
                <a:spcPct val="20000"/>
              </a:spcBef>
              <a:spcAft>
                <a:spcPts val="600"/>
              </a:spcAft>
              <a:buNone/>
            </a:pPr>
            <a:endParaRPr lang="en-GB" sz="1400" dirty="0"/>
          </a:p>
          <a:p>
            <a:pPr marL="0" indent="0">
              <a:buNone/>
            </a:pPr>
            <a:endParaRPr lang="en-GB"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References:</a:t>
            </a:r>
            <a:endParaRPr lang="en-US" sz="4000"/>
          </a:p>
        </p:txBody>
      </p:sp>
      <p:sp>
        <p:nvSpPr>
          <p:cNvPr id="3" name="Content Placeholder 2"/>
          <p:cNvSpPr>
            <a:spLocks noGrp="1"/>
          </p:cNvSpPr>
          <p:nvPr>
            <p:ph idx="1"/>
          </p:nvPr>
        </p:nvSpPr>
        <p:spPr>
          <a:xfrm>
            <a:off x="420324" y="3633925"/>
            <a:ext cx="10515600" cy="4251960"/>
          </a:xfrm>
        </p:spPr>
        <p:txBody>
          <a:bodyPr vert="horz" lIns="91440" tIns="45720" rIns="91440" bIns="45720" rtlCol="0" anchor="t">
            <a:normAutofit/>
          </a:bodyPr>
          <a:lstStyle/>
          <a:p>
            <a:pPr marL="0" indent="0">
              <a:buNone/>
            </a:pPr>
            <a:endParaRPr lang="en-IN" sz="1600" u="sng" dirty="0">
              <a:solidFill>
                <a:srgbClr val="0070C0"/>
              </a:solidFill>
              <a:latin typeface="Franklin Gothic Book" panose="020B0503020102020204"/>
            </a:endParaRPr>
          </a:p>
          <a:p>
            <a:pPr marL="0" indent="0">
              <a:buNone/>
            </a:pPr>
            <a:endParaRPr lang="en-IN" sz="1600" dirty="0">
              <a:latin typeface="Franklin Gothic Book" panose="020B0503020102020204"/>
            </a:endParaRPr>
          </a:p>
        </p:txBody>
      </p:sp>
      <p:sp>
        <p:nvSpPr>
          <p:cNvPr id="6" name="Rectangle 3">
            <a:extLst>
              <a:ext uri="{FF2B5EF4-FFF2-40B4-BE49-F238E27FC236}">
                <a16:creationId xmlns:a16="http://schemas.microsoft.com/office/drawing/2014/main" id="{267E28FE-68FF-433E-23BF-D776E0100CF9}"/>
              </a:ext>
            </a:extLst>
          </p:cNvPr>
          <p:cNvSpPr>
            <a:spLocks noChangeArrowheads="1"/>
          </p:cNvSpPr>
          <p:nvPr/>
        </p:nvSpPr>
        <p:spPr bwMode="auto">
          <a:xfrm>
            <a:off x="128908" y="1620221"/>
            <a:ext cx="11632608"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Arial" panose="020B0604020202020204" pitchFamily="34" charset="0"/>
              </a:rPr>
              <a:t>Microsoft Power BI Documentation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Arial" panose="020B0604020202020204" pitchFamily="34" charset="0"/>
              </a:rPr>
              <a:t>Azure Cloud Administration Guides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Arial" panose="020B0604020202020204" pitchFamily="34" charset="0"/>
              </a:rPr>
              <a:t>Internship learning modules: Power BI, Azure, Cloud Engineering, AI/ML, Microsoft Copilot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Arial" panose="020B0604020202020204" pitchFamily="34" charset="0"/>
              </a:rPr>
              <a:t>Dataset: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2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TotalTime>
  <Words>1627</Words>
  <Application>Microsoft Office PowerPoint</Application>
  <PresentationFormat>Widescreen</PresentationFormat>
  <Paragraphs>108</Paragraphs>
  <Slides>15</Slides>
  <Notes>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15</vt:i4>
      </vt:variant>
    </vt:vector>
  </HeadingPairs>
  <TitlesOfParts>
    <vt:vector size="21" baseType="lpstr">
      <vt:lpstr>Aptos</vt:lpstr>
      <vt:lpstr>Arial</vt:lpstr>
      <vt:lpstr>Calibri</vt:lpstr>
      <vt:lpstr>Franklin Gothic Book</vt:lpstr>
      <vt:lpstr>1_Office Theme</vt:lpstr>
      <vt:lpstr>Custom Design</vt:lpstr>
      <vt:lpstr>PowerPoint Presentation</vt:lpstr>
      <vt:lpstr>OUTLINE:</vt:lpstr>
      <vt:lpstr>Problem Statement:</vt:lpstr>
      <vt:lpstr>Proposed Solution:</vt:lpstr>
      <vt:lpstr>PowerPoint Presentation</vt:lpstr>
      <vt:lpstr>System  Approach:</vt:lpstr>
      <vt:lpstr>Algorithm &amp; Deployment:</vt:lpstr>
      <vt:lpstr>Result:</vt:lpstr>
      <vt:lpstr>RESULT </vt:lpstr>
      <vt:lpstr>RESULT</vt:lpstr>
      <vt:lpstr>PowerPoint Presentation</vt:lpstr>
      <vt:lpstr>Conclusion:</vt:lpstr>
      <vt:lpstr>Future scope:</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Samia khan</cp:lastModifiedBy>
  <cp:revision>102</cp:revision>
  <dcterms:created xsi:type="dcterms:W3CDTF">2024-05-21T11:55:00Z</dcterms:created>
  <dcterms:modified xsi:type="dcterms:W3CDTF">2026-03-10T18:27:45Z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EE4E1345D65D4F85A477FE2A1A549664_12</vt:lpwstr>
  </property>
  <property fmtid="{D5CDD505-2E9C-101B-9397-08002B2CF9AE}" pid="5" name="KSOProductBuildVer">
    <vt:lpwstr>1033-12.2.0.23155</vt:lpwstr>
  </property>
</Properties>
</file>