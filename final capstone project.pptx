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8"/>
  </p:notesMasterIdLst>
  <p:sldIdLst>
    <p:sldId id="256" r:id="rId3"/>
    <p:sldId id="571" r:id="rId4"/>
    <p:sldId id="572" r:id="rId5"/>
    <p:sldId id="573" r:id="rId6"/>
    <p:sldId id="580" r:id="rId7"/>
    <p:sldId id="574" r:id="rId8"/>
    <p:sldId id="575" r:id="rId9"/>
    <p:sldId id="576" r:id="rId10"/>
    <p:sldId id="581" r:id="rId11"/>
    <p:sldId id="582" r:id="rId12"/>
    <p:sldId id="583" r:id="rId13"/>
    <p:sldId id="577" r:id="rId14"/>
    <p:sldId id="579" r:id="rId15"/>
    <p:sldId id="578" r:id="rId16"/>
    <p:sldId id="536" r:id="rId17"/>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samiakhan1697-prog/E-Commerce-Sales-Dashboard-PowerBI"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1drv.ms/x/c/bbe319f6f5671796/IQCNTPJ8pmKfSpTXZBgbO4OpAflpME5C7sf9Ho8kGJk-0VI?e=f1sJJf"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391886" y="1704740"/>
            <a:ext cx="5075853" cy="1915537"/>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Bell MT" panose="02020503060305020303" pitchFamily="18" charset="0"/>
              </a:rPr>
              <a:t>E-COMMERCE REPORT ANALYSIS </a:t>
            </a:r>
            <a:endParaRPr lang="en-US" sz="5100" dirty="0">
              <a:latin typeface="Bell MT" panose="02020503060305020303" pitchFamily="18" charset="0"/>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latin typeface="Bell MT" panose="02020503060305020303" pitchFamily="18" charset="0"/>
              </a:rPr>
              <a:t>Presented By</a:t>
            </a:r>
            <a:endParaRPr lang="en-US" sz="1600" cap="all" dirty="0">
              <a:latin typeface="Bell MT" panose="02020503060305020303" pitchFamily="18" charset="0"/>
            </a:endParaRPr>
          </a:p>
          <a:p>
            <a:pPr algn="l">
              <a:spcAft>
                <a:spcPts val="600"/>
              </a:spcAft>
            </a:pPr>
            <a:r>
              <a:rPr lang="en-US" sz="1600" b="1" cap="all" dirty="0">
                <a:latin typeface="Bell MT" panose="02020503060305020303" pitchFamily="18" charset="0"/>
              </a:rPr>
              <a:t>Student Name: SAMIA</a:t>
            </a:r>
          </a:p>
          <a:p>
            <a:pPr algn="l">
              <a:spcAft>
                <a:spcPts val="600"/>
              </a:spcAft>
            </a:pPr>
            <a:r>
              <a:rPr lang="en-US" sz="1600" b="1" cap="all" dirty="0">
                <a:latin typeface="Bell MT" panose="02020503060305020303" pitchFamily="18" charset="0"/>
              </a:rPr>
              <a:t>College Name: JAMIA HAMDARD</a:t>
            </a:r>
          </a:p>
          <a:p>
            <a:pPr algn="l">
              <a:spcAft>
                <a:spcPts val="600"/>
              </a:spcAft>
            </a:pPr>
            <a:r>
              <a:rPr lang="en-US" sz="1600" b="1" cap="all" dirty="0">
                <a:latin typeface="Bell MT" panose="02020503060305020303" pitchFamily="18" charset="0"/>
              </a:rPr>
              <a:t>Department: COMPUTER SCIENCE </a:t>
            </a:r>
          </a:p>
          <a:p>
            <a:pPr algn="l">
              <a:spcAft>
                <a:spcPts val="600"/>
              </a:spcAft>
            </a:pPr>
            <a:r>
              <a:rPr lang="en-US" sz="1600" b="1" cap="all" dirty="0">
                <a:latin typeface="Bell MT" panose="02020503060305020303" pitchFamily="18" charset="0"/>
              </a:rPr>
              <a:t>Email ID: Samiakhan1697@gmail.com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449FFD45-2303-09D6-00B0-1A10D72033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0761" y="487681"/>
            <a:ext cx="4491690" cy="516774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Bell MT" panose="02020503060305020303" pitchFamily="18" charset="0"/>
                <a:cs typeface="Arial" panose="020B0604020202020204"/>
              </a:rPr>
              <a:t>Problem Statement </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Proposed System/Solution</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System Development Approach </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Algorithm &amp; Deployment  </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Result (Output Image)</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Conclusion</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Future Scope</a:t>
            </a:r>
            <a:endParaRPr lang="en-US" sz="2200" dirty="0">
              <a:latin typeface="Bell MT" panose="02020503060305020303" pitchFamily="18" charset="0"/>
              <a:cs typeface="Arial" panose="020B0604020202020204"/>
            </a:endParaRPr>
          </a:p>
          <a:p>
            <a:pPr marL="305435" indent="-305435">
              <a:spcBef>
                <a:spcPct val="20000"/>
              </a:spcBef>
              <a:spcAft>
                <a:spcPts val="600"/>
              </a:spcAft>
            </a:pPr>
            <a:r>
              <a:rPr lang="en-US" sz="2200" b="1" dirty="0">
                <a:latin typeface="Bell MT" panose="02020503060305020303" pitchFamily="18" charset="0"/>
                <a:cs typeface="Arial" panose="020B0604020202020204"/>
              </a:rPr>
              <a:t>References</a:t>
            </a:r>
            <a:endParaRPr lang="en-US" sz="2200" dirty="0">
              <a:latin typeface="Bell MT" panose="02020503060305020303" pitchFamily="18" charset="0"/>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Problem Statement:</a:t>
            </a:r>
            <a:endParaRPr lang="en-US" sz="4000" dirty="0"/>
          </a:p>
        </p:txBody>
      </p:sp>
      <p:sp>
        <p:nvSpPr>
          <p:cNvPr id="3" name="Content Placeholder 2"/>
          <p:cNvSpPr>
            <a:spLocks noGrp="1"/>
          </p:cNvSpPr>
          <p:nvPr>
            <p:ph idx="1"/>
          </p:nvPr>
        </p:nvSpPr>
        <p:spPr>
          <a:xfrm>
            <a:off x="290512" y="1567542"/>
            <a:ext cx="10515600" cy="4534677"/>
          </a:xfrm>
        </p:spPr>
        <p:txBody>
          <a:bodyPr vert="horz" lIns="91440" tIns="45720" rIns="91440" bIns="45720" rtlCol="0">
            <a:normAutofit fontScale="70000" lnSpcReduction="20000"/>
          </a:bodyPr>
          <a:lstStyle/>
          <a:p>
            <a:r>
              <a:rPr lang="en-US" sz="2400" dirty="0">
                <a:latin typeface="Bell MT" panose="02020503060305020303" pitchFamily="18" charset="0"/>
              </a:rPr>
              <a:t>In the modern digital economy, e‑commerce platforms have become one of the fastest‑growing business models, generating enormous volumes of transactional data every day. This data includes information about customer orders, product categories, regional sales, discounts, shipping preferences, and profitability. While the availability of such data is vast, businesses often struggle to manage and interpret it effectively.</a:t>
            </a:r>
          </a:p>
          <a:p>
            <a:r>
              <a:rPr lang="en-US" sz="2400" dirty="0">
                <a:latin typeface="Bell MT" panose="02020503060305020303" pitchFamily="18" charset="0"/>
              </a:rPr>
              <a:t>The absence of structured analysis leads to several challenges:</a:t>
            </a:r>
          </a:p>
          <a:p>
            <a:r>
              <a:rPr lang="en-US" sz="2400" dirty="0">
                <a:latin typeface="Bell MT" panose="02020503060305020303" pitchFamily="18" charset="0"/>
              </a:rPr>
              <a:t>Decision‑makers cannot easily identify which product categories or subcategories are driving the most revenue and profit.</a:t>
            </a:r>
          </a:p>
          <a:p>
            <a:r>
              <a:rPr lang="en-US" sz="2400" dirty="0">
                <a:latin typeface="Bell MT" panose="02020503060305020303" pitchFamily="18" charset="0"/>
              </a:rPr>
              <a:t>Regional variations in sales remain hidden, making it difficult to allocate resources or plan targeted strategies.</a:t>
            </a:r>
          </a:p>
          <a:p>
            <a:r>
              <a:rPr lang="en-US" sz="2400" dirty="0">
                <a:latin typeface="Bell MT" panose="02020503060305020303" pitchFamily="18" charset="0"/>
              </a:rPr>
              <a:t>Customer segments such as Consumer, Corporate, and Home Office are not clearly understood, resulting in missed opportunities for personalized marketing.</a:t>
            </a:r>
          </a:p>
          <a:p>
            <a:r>
              <a:rPr lang="en-US" sz="2400" dirty="0">
                <a:latin typeface="Bell MT" panose="02020503060305020303" pitchFamily="18" charset="0"/>
              </a:rPr>
              <a:t>Discounts and shipping modes, which directly affect profitability, are not tracked in a way that reveals their true impact.</a:t>
            </a:r>
          </a:p>
          <a:p>
            <a:r>
              <a:rPr lang="en-US" sz="2400" dirty="0">
                <a:latin typeface="Bell MT" panose="02020503060305020303" pitchFamily="18" charset="0"/>
              </a:rPr>
              <a:t>Traditional reporting methods are static and fragmented, forcing managers to rely on spreadsheets or basic summaries that do not provide real‑time insights. As a result, organizations face delays in responding to market changes, struggle to optimize operations, and risk losing competitive advantage.</a:t>
            </a:r>
          </a:p>
          <a:p>
            <a:r>
              <a:rPr lang="en-US" sz="2400" dirty="0">
                <a:latin typeface="Bell MT" panose="02020503060305020303" pitchFamily="18" charset="0"/>
              </a:rPr>
              <a:t>The core problem, therefore, is the </a:t>
            </a:r>
            <a:r>
              <a:rPr lang="en-US" sz="2400" b="1" dirty="0">
                <a:latin typeface="Bell MT" panose="02020503060305020303" pitchFamily="18" charset="0"/>
              </a:rPr>
              <a:t>lack of an integrated, interactive, and visually engaging system</a:t>
            </a:r>
            <a:r>
              <a:rPr lang="en-US" sz="2400" dirty="0">
                <a:latin typeface="Bell MT" panose="02020503060305020303" pitchFamily="18" charset="0"/>
              </a:rPr>
              <a:t> that can transform raw e‑commerce data into meaningful insights. Without such a system, businesses are unable to fully leverage their data for strategic decision‑making, operational efficiency, and customer satisfaction.</a:t>
            </a:r>
          </a:p>
          <a:p>
            <a:pPr marL="0" indent="0">
              <a:buNone/>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534160"/>
            <a:ext cx="10515600" cy="4297680"/>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US" sz="1700" dirty="0">
                <a:latin typeface="Bell MT" panose="02020503060305020303" pitchFamily="18" charset="0"/>
              </a:rPr>
              <a:t>To address the challenges faced by e‑commerce businesses in analyzing and utilizing their vast transactional data, the proposed solution is the development of an </a:t>
            </a:r>
            <a:r>
              <a:rPr lang="en-US" sz="1700" b="1" dirty="0">
                <a:latin typeface="Bell MT" panose="02020503060305020303" pitchFamily="18" charset="0"/>
              </a:rPr>
              <a:t>interactive E‑Commerce Report Analysis Dashboard using Power BI</a:t>
            </a:r>
            <a:r>
              <a:rPr lang="en-US" sz="1700" dirty="0">
                <a:latin typeface="Bell MT" panose="02020503060305020303" pitchFamily="18" charset="0"/>
              </a:rPr>
              <a:t>. This system is designed to transform raw data into meaningful insights, enabling decision‑makers to monitor performance, identify trends, and optimize operations in real time.</a:t>
            </a:r>
          </a:p>
          <a:p>
            <a:r>
              <a:rPr lang="en-US" sz="1700" b="1" dirty="0">
                <a:latin typeface="Bell MT" panose="02020503060305020303" pitchFamily="18" charset="0"/>
              </a:rPr>
              <a:t>Key Components of the Solution</a:t>
            </a:r>
            <a:r>
              <a:rPr lang="en-US" sz="1700" dirty="0">
                <a:latin typeface="Bell MT" panose="02020503060305020303" pitchFamily="18" charset="0"/>
              </a:rPr>
              <a:t>:</a:t>
            </a:r>
          </a:p>
          <a:p>
            <a:r>
              <a:rPr lang="en-US" sz="1700" b="1" dirty="0">
                <a:latin typeface="Bell MT" panose="02020503060305020303" pitchFamily="18" charset="0"/>
              </a:rPr>
              <a:t>Data Collection</a:t>
            </a:r>
          </a:p>
          <a:p>
            <a:pPr lvl="1"/>
            <a:r>
              <a:rPr lang="en-US" sz="1700" dirty="0">
                <a:latin typeface="Bell MT" panose="02020503060305020303" pitchFamily="18" charset="0"/>
              </a:rPr>
              <a:t>Gather historical e‑commerce data including orders, sales, profit, discounts, shipping modes, customer segments, and regional information.</a:t>
            </a:r>
          </a:p>
          <a:p>
            <a:pPr lvl="1"/>
            <a:r>
              <a:rPr lang="en-US" sz="1700" dirty="0">
                <a:latin typeface="Bell MT" panose="02020503060305020303" pitchFamily="18" charset="0"/>
              </a:rPr>
              <a:t>Enrich the dataset with external factors such as seasonal demand, holidays, and promotional events.</a:t>
            </a:r>
          </a:p>
          <a:p>
            <a:r>
              <a:rPr lang="en-US" sz="1700" b="1" dirty="0">
                <a:latin typeface="Bell MT" panose="02020503060305020303" pitchFamily="18" charset="0"/>
              </a:rPr>
              <a:t>Data Preprocessing</a:t>
            </a:r>
          </a:p>
          <a:p>
            <a:pPr lvl="1"/>
            <a:r>
              <a:rPr lang="en-US" sz="1700" dirty="0">
                <a:latin typeface="Bell MT" panose="02020503060305020303" pitchFamily="18" charset="0"/>
              </a:rPr>
              <a:t>Clean and standardize the dataset to remove inconsistencies, missing values, and outliers.</a:t>
            </a:r>
          </a:p>
          <a:p>
            <a:pPr lvl="1"/>
            <a:r>
              <a:rPr lang="en-US" sz="1700" dirty="0">
                <a:latin typeface="Bell MT" panose="02020503060305020303" pitchFamily="18" charset="0"/>
              </a:rPr>
              <a:t>Apply feature engineering to create calculated measures such as profit margin, discount impact, and regional contribution.</a:t>
            </a: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122D3EC0-2197-4872-8653-0F54F8E06E61}"/>
              </a:ext>
            </a:extLst>
          </p:cNvPr>
          <p:cNvSpPr>
            <a:spLocks noChangeArrowheads="1"/>
          </p:cNvSpPr>
          <p:nvPr/>
        </p:nvSpPr>
        <p:spPr bwMode="auto">
          <a:xfrm>
            <a:off x="162560" y="897538"/>
            <a:ext cx="11551920"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900" b="1" dirty="0">
                <a:latin typeface="Bell MT" panose="02020503060305020303" pitchFamily="18" charset="0"/>
              </a:rPr>
              <a:t>Dashboard Development</a:t>
            </a:r>
          </a:p>
          <a:p>
            <a:pPr lvl="1"/>
            <a:r>
              <a:rPr lang="en-US" sz="1900" b="1" dirty="0">
                <a:latin typeface="Bell MT" panose="02020503060305020303" pitchFamily="18" charset="0"/>
              </a:rPr>
              <a:t>.</a:t>
            </a:r>
            <a:r>
              <a:rPr lang="en-US" sz="1900" dirty="0">
                <a:latin typeface="Bell MT" panose="02020503060305020303" pitchFamily="18" charset="0"/>
              </a:rPr>
              <a:t> Build KPIs for Total Orders, Sales, Profit, and Quantity.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900" b="1" i="0" u="none" strike="noStrike" cap="none" normalizeH="0" baseline="0" dirty="0">
                <a:ln>
                  <a:noFill/>
                </a:ln>
                <a:solidFill>
                  <a:schemeClr val="tx1"/>
                </a:solidFill>
                <a:effectLst/>
                <a:latin typeface="Bell MT" panose="02020503060305020303" pitchFamily="18" charset="0"/>
              </a:rPr>
              <a:t>        . </a:t>
            </a:r>
            <a:r>
              <a:rPr kumimoji="0" lang="en-US" altLang="en-US" sz="1900" b="0" i="0" u="none" strike="noStrike" cap="none" normalizeH="0" baseline="0" dirty="0">
                <a:ln>
                  <a:noFill/>
                </a:ln>
                <a:solidFill>
                  <a:schemeClr val="tx1"/>
                </a:solidFill>
                <a:effectLst/>
                <a:latin typeface="Bell MT" panose="02020503060305020303" pitchFamily="18" charset="0"/>
              </a:rPr>
              <a:t>Use interactive visuals (bar charts, pie charts, </a:t>
            </a:r>
            <a:r>
              <a:rPr kumimoji="0" lang="en-US" altLang="en-US" sz="1900" b="0" i="0" u="none" strike="noStrike" cap="none" normalizeH="0" baseline="0" dirty="0" err="1">
                <a:ln>
                  <a:noFill/>
                </a:ln>
                <a:solidFill>
                  <a:schemeClr val="tx1"/>
                </a:solidFill>
                <a:effectLst/>
                <a:latin typeface="Bell MT" panose="02020503060305020303" pitchFamily="18" charset="0"/>
              </a:rPr>
              <a:t>treemaps</a:t>
            </a:r>
            <a:r>
              <a:rPr kumimoji="0" lang="en-US" altLang="en-US" sz="1900" b="0" i="0" u="none" strike="noStrike" cap="none" normalizeH="0" baseline="0" dirty="0">
                <a:ln>
                  <a:noFill/>
                </a:ln>
                <a:solidFill>
                  <a:schemeClr val="tx1"/>
                </a:solidFill>
                <a:effectLst/>
                <a:latin typeface="Bell MT" panose="02020503060305020303" pitchFamily="18" charset="0"/>
              </a:rPr>
              <a:t>, maps, gauges) to represent data across categories, regions, and customer segments. </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900" b="1" i="0" u="none" strike="noStrike" cap="none" normalizeH="0" baseline="0" dirty="0">
                <a:ln>
                  <a:noFill/>
                </a:ln>
                <a:solidFill>
                  <a:schemeClr val="tx1"/>
                </a:solidFill>
                <a:effectLst/>
                <a:latin typeface="Bell MT" panose="02020503060305020303" pitchFamily="18" charset="0"/>
              </a:rPr>
              <a:t>.</a:t>
            </a:r>
            <a:r>
              <a:rPr kumimoji="0" lang="en-US" altLang="en-US" sz="1900" b="0" i="0" u="none" strike="noStrike" cap="none" normalizeH="0" baseline="0" dirty="0">
                <a:ln>
                  <a:noFill/>
                </a:ln>
                <a:solidFill>
                  <a:schemeClr val="tx1"/>
                </a:solidFill>
                <a:effectLst/>
                <a:latin typeface="Bell MT" panose="02020503060305020303" pitchFamily="18" charset="0"/>
              </a:rPr>
              <a:t> Implement filters and slicers (e.g., shipping mode, region, discount level) for drill‑down analysis. </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900" b="1" i="0" u="none" strike="noStrike" cap="none" normalizeH="0" baseline="0" dirty="0">
                <a:ln>
                  <a:noFill/>
                </a:ln>
                <a:solidFill>
                  <a:schemeClr val="tx1"/>
                </a:solidFill>
                <a:effectLst/>
                <a:latin typeface="Bell MT" panose="02020503060305020303" pitchFamily="18" charset="0"/>
              </a:rPr>
              <a:t>.</a:t>
            </a:r>
            <a:r>
              <a:rPr kumimoji="0" lang="en-US" altLang="en-US" sz="1900" b="0" i="0" u="none" strike="noStrike" cap="none" normalizeH="0" baseline="0" dirty="0">
                <a:ln>
                  <a:noFill/>
                </a:ln>
                <a:solidFill>
                  <a:schemeClr val="tx1"/>
                </a:solidFill>
                <a:effectLst/>
                <a:latin typeface="Bell MT" panose="02020503060305020303" pitchFamily="18" charset="0"/>
              </a:rPr>
              <a:t> Add tooltips and bookmarks to enhance storytelling and user experience. </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900" b="0" i="0" u="none" strike="noStrike" cap="none" normalizeH="0" baseline="0" dirty="0">
              <a:ln>
                <a:noFill/>
              </a:ln>
              <a:solidFill>
                <a:schemeClr val="tx1"/>
              </a:solidFill>
              <a:effectLst/>
              <a:latin typeface="Bell MT" panose="02020503060305020303"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900" b="1" i="0" u="none" strike="noStrike" cap="none" normalizeH="0" baseline="0" dirty="0">
                <a:ln>
                  <a:noFill/>
                </a:ln>
                <a:solidFill>
                  <a:schemeClr val="tx1"/>
                </a:solidFill>
                <a:effectLst/>
                <a:latin typeface="Bell MT" panose="02020503060305020303" pitchFamily="18" charset="0"/>
              </a:rPr>
              <a:t>Deployment &amp; Accessibility</a:t>
            </a:r>
            <a:r>
              <a:rPr kumimoji="0" lang="en-US" altLang="en-US" sz="1900" b="0" i="0" u="none" strike="noStrike" cap="none" normalizeH="0" baseline="0" dirty="0">
                <a:ln>
                  <a:noFill/>
                </a:ln>
                <a:solidFill>
                  <a:schemeClr val="tx1"/>
                </a:solidFill>
                <a:effectLst/>
                <a:latin typeface="Bell MT" panose="02020503060305020303" pitchFamily="18" charset="0"/>
              </a:rPr>
              <a:t>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Bell MT" panose="02020503060305020303" pitchFamily="18" charset="0"/>
              </a:rPr>
              <a:t>Publish the dashboard on </a:t>
            </a:r>
            <a:r>
              <a:rPr kumimoji="0" lang="en-US" altLang="en-US" sz="1900" b="1" i="0" u="none" strike="noStrike" cap="none" normalizeH="0" baseline="0" dirty="0">
                <a:ln>
                  <a:noFill/>
                </a:ln>
                <a:solidFill>
                  <a:schemeClr val="tx1"/>
                </a:solidFill>
                <a:effectLst/>
                <a:latin typeface="Bell MT" panose="02020503060305020303" pitchFamily="18" charset="0"/>
              </a:rPr>
              <a:t>Power BI Service</a:t>
            </a:r>
            <a:r>
              <a:rPr kumimoji="0" lang="en-US" altLang="en-US" sz="1900" b="0" i="0" u="none" strike="noStrike" cap="none" normalizeH="0" baseline="0" dirty="0">
                <a:ln>
                  <a:noFill/>
                </a:ln>
                <a:solidFill>
                  <a:schemeClr val="tx1"/>
                </a:solidFill>
                <a:effectLst/>
                <a:latin typeface="Bell MT" panose="02020503060305020303" pitchFamily="18" charset="0"/>
              </a:rPr>
              <a:t> for collaboration and sharing.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Bell MT" panose="02020503060305020303" pitchFamily="18" charset="0"/>
              </a:rPr>
              <a:t>Integrate with </a:t>
            </a:r>
            <a:r>
              <a:rPr kumimoji="0" lang="en-US" altLang="en-US" sz="1900" b="1" i="0" u="none" strike="noStrike" cap="none" normalizeH="0" baseline="0" dirty="0">
                <a:ln>
                  <a:noFill/>
                </a:ln>
                <a:solidFill>
                  <a:schemeClr val="tx1"/>
                </a:solidFill>
                <a:effectLst/>
                <a:latin typeface="Bell MT" panose="02020503060305020303" pitchFamily="18" charset="0"/>
              </a:rPr>
              <a:t>Azure Cloud</a:t>
            </a:r>
            <a:r>
              <a:rPr kumimoji="0" lang="en-US" altLang="en-US" sz="1900" b="0" i="0" u="none" strike="noStrike" cap="none" normalizeH="0" baseline="0" dirty="0">
                <a:ln>
                  <a:noFill/>
                </a:ln>
                <a:solidFill>
                  <a:schemeClr val="tx1"/>
                </a:solidFill>
                <a:effectLst/>
                <a:latin typeface="Bell MT" panose="02020503060305020303" pitchFamily="18" charset="0"/>
              </a:rPr>
              <a:t> for scalability and real‑time updates.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Bell MT" panose="02020503060305020303" pitchFamily="18" charset="0"/>
              </a:rPr>
              <a:t>Ensure accessibility across devices for decision‑makers. </a:t>
            </a:r>
          </a:p>
          <a:p>
            <a:pPr marL="914400" marR="0" lvl="2" indent="0" algn="l" defTabSz="914400" rtl="0" eaLnBrk="0" fontAlgn="base" latinLnBrk="0" hangingPunct="0">
              <a:lnSpc>
                <a:spcPct val="100000"/>
              </a:lnSpc>
              <a:spcBef>
                <a:spcPct val="0"/>
              </a:spcBef>
              <a:spcAft>
                <a:spcPct val="0"/>
              </a:spcAft>
              <a:buClrTx/>
              <a:buSzTx/>
              <a:tabLst/>
            </a:pPr>
            <a:endParaRPr kumimoji="0" lang="en-US" altLang="en-US" sz="1900" b="0" i="0" u="none" strike="noStrike" cap="none" normalizeH="0" baseline="0" dirty="0">
              <a:ln>
                <a:noFill/>
              </a:ln>
              <a:solidFill>
                <a:schemeClr val="tx1"/>
              </a:solidFill>
              <a:effectLst/>
              <a:latin typeface="Bell MT" panose="02020503060305020303"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900" b="1" i="0" u="none" strike="noStrike" cap="none" normalizeH="0" baseline="0" dirty="0">
                <a:ln>
                  <a:noFill/>
                </a:ln>
                <a:solidFill>
                  <a:schemeClr val="tx1"/>
                </a:solidFill>
                <a:effectLst/>
                <a:latin typeface="Bell MT" panose="02020503060305020303" pitchFamily="18" charset="0"/>
              </a:rPr>
              <a:t>Value Addition</a:t>
            </a:r>
            <a:r>
              <a:rPr kumimoji="0" lang="en-US" altLang="en-US" sz="1900" b="0" i="0" u="none" strike="noStrike" cap="none" normalizeH="0" baseline="0" dirty="0">
                <a:ln>
                  <a:noFill/>
                </a:ln>
                <a:solidFill>
                  <a:schemeClr val="tx1"/>
                </a:solidFill>
                <a:effectLst/>
                <a:latin typeface="Bell MT" panose="02020503060305020303" pitchFamily="18"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Bell MT" panose="02020503060305020303" pitchFamily="18" charset="0"/>
              </a:rPr>
              <a:t>Provide insights into top‑performing categories, regions, and customer segments.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Bell MT" panose="02020503060305020303" pitchFamily="18" charset="0"/>
              </a:rPr>
              <a:t>Highlight the impact of discounts and shipping modes on profitability.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Bell MT" panose="02020503060305020303" pitchFamily="18" charset="0"/>
              </a:rPr>
              <a:t>Enable forecasting and scenario analysis using Power BI’s advanced features.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9344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408922"/>
            <a:ext cx="10515600" cy="5144277"/>
          </a:xfrm>
        </p:spPr>
        <p:txBody>
          <a:bodyPr vert="horz" lIns="91440" tIns="45720" rIns="91440" bIns="45720" rtlCol="0">
            <a:normAutofit/>
          </a:bodyPr>
          <a:lstStyle/>
          <a:p>
            <a:pPr marL="0" indent="0">
              <a:spcBef>
                <a:spcPct val="20000"/>
              </a:spcBef>
              <a:spcAft>
                <a:spcPts val="600"/>
              </a:spcAft>
              <a:buNone/>
            </a:pPr>
            <a:r>
              <a:rPr lang="en-US" sz="1700" dirty="0">
                <a:latin typeface="Bell MT" panose="02020503060305020303" pitchFamily="18" charset="0"/>
              </a:rPr>
              <a:t>The development of the </a:t>
            </a:r>
            <a:r>
              <a:rPr lang="en-US" sz="1700" b="1" dirty="0">
                <a:latin typeface="Bell MT" panose="02020503060305020303" pitchFamily="18" charset="0"/>
              </a:rPr>
              <a:t>E‑Commerce Report Analysis Dashboard</a:t>
            </a:r>
            <a:r>
              <a:rPr lang="en-US" sz="1700" dirty="0">
                <a:latin typeface="Bell MT" panose="02020503060305020303" pitchFamily="18" charset="0"/>
              </a:rPr>
              <a:t> follows a structured approach to ensure accuracy, scalability, and usability. The methodology combines data preparation, visualization design, and deployment on cloud platforms for real‑time accessibility</a:t>
            </a:r>
            <a:r>
              <a:rPr lang="en-US" sz="2400" dirty="0">
                <a:latin typeface="Bell MT" panose="02020503060305020303" pitchFamily="18" charset="0"/>
              </a:rPr>
              <a:t>.</a:t>
            </a:r>
          </a:p>
          <a:p>
            <a:r>
              <a:rPr lang="en-IN" sz="1800" b="1" dirty="0">
                <a:latin typeface="Bell MT" panose="02020503060305020303" pitchFamily="18" charset="0"/>
              </a:rPr>
              <a:t>1. System Requirements</a:t>
            </a:r>
          </a:p>
          <a:p>
            <a:r>
              <a:rPr lang="en-IN" sz="1800" b="1" dirty="0">
                <a:latin typeface="Bell MT" panose="02020503060305020303" pitchFamily="18" charset="0"/>
              </a:rPr>
              <a:t>Software: </a:t>
            </a:r>
            <a:r>
              <a:rPr lang="en-US" sz="1800" dirty="0">
                <a:latin typeface="Bell MT" panose="02020503060305020303" pitchFamily="18" charset="0"/>
              </a:rPr>
              <a:t>Power BI Desktop for modeling and visualization, Power BI Service for deployment, Azure Cloud for scalability.</a:t>
            </a:r>
            <a:endParaRPr lang="en-IN" sz="1800" dirty="0">
              <a:latin typeface="Bell MT" panose="02020503060305020303" pitchFamily="18" charset="0"/>
            </a:endParaRPr>
          </a:p>
          <a:p>
            <a:r>
              <a:rPr lang="en-IN" sz="1800" b="1" dirty="0">
                <a:latin typeface="Bell MT" panose="02020503060305020303" pitchFamily="18" charset="0"/>
              </a:rPr>
              <a:t>Hardware: </a:t>
            </a:r>
            <a:r>
              <a:rPr lang="en-US" sz="1800" dirty="0">
                <a:latin typeface="Bell MT" panose="02020503060305020303" pitchFamily="18" charset="0"/>
              </a:rPr>
              <a:t>Standard laptop/PC with Windows 10/11, minimum 8GB RAM recommended for smooth processing.</a:t>
            </a:r>
            <a:endParaRPr lang="en-IN" sz="1800" dirty="0">
              <a:latin typeface="Bell MT" panose="02020503060305020303" pitchFamily="18" charset="0"/>
            </a:endParaRPr>
          </a:p>
          <a:p>
            <a:r>
              <a:rPr lang="en-IN" sz="1800" b="1" dirty="0">
                <a:latin typeface="Bell MT" panose="02020503060305020303" pitchFamily="18" charset="0"/>
              </a:rPr>
              <a:t>Data Source: </a:t>
            </a:r>
            <a:r>
              <a:rPr lang="en-IN" sz="1800" dirty="0">
                <a:latin typeface="Bell MT" panose="02020503060305020303" pitchFamily="18" charset="0"/>
              </a:rPr>
              <a:t>Historical e‑commerce dataset (orders, sales, profit, discounts, shipping modes, customer segments, regions)</a:t>
            </a:r>
          </a:p>
          <a:p>
            <a:r>
              <a:rPr lang="en-IN" sz="1800" b="1" dirty="0">
                <a:latin typeface="Bell MT" panose="02020503060305020303" pitchFamily="18" charset="0"/>
              </a:rPr>
              <a:t>2. Libraries/ Tools: </a:t>
            </a:r>
          </a:p>
          <a:p>
            <a:endParaRPr lang="en-IN" sz="1800" dirty="0">
              <a:latin typeface="Bell MT" panose="02020503060305020303" pitchFamily="18" charset="0"/>
            </a:endParaRPr>
          </a:p>
          <a:p>
            <a:pPr marL="0" indent="0">
              <a:spcBef>
                <a:spcPct val="20000"/>
              </a:spcBef>
              <a:spcAft>
                <a:spcPts val="600"/>
              </a:spcAft>
              <a:buNone/>
            </a:pPr>
            <a:endParaRPr lang="en-GB" sz="1700" dirty="0"/>
          </a:p>
        </p:txBody>
      </p:sp>
      <p:sp>
        <p:nvSpPr>
          <p:cNvPr id="8" name="Rectangle 5">
            <a:extLst>
              <a:ext uri="{FF2B5EF4-FFF2-40B4-BE49-F238E27FC236}">
                <a16:creationId xmlns:a16="http://schemas.microsoft.com/office/drawing/2014/main" id="{7B6B5910-B469-8338-D417-D932AF4FB92B}"/>
              </a:ext>
            </a:extLst>
          </p:cNvPr>
          <p:cNvSpPr>
            <a:spLocks noChangeArrowheads="1"/>
          </p:cNvSpPr>
          <p:nvPr/>
        </p:nvSpPr>
        <p:spPr bwMode="auto">
          <a:xfrm>
            <a:off x="-365760" y="4949875"/>
            <a:ext cx="775443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3" eaLnBrk="0" fontAlgn="base" hangingPunct="0">
              <a:spcBef>
                <a:spcPct val="0"/>
              </a:spcBef>
              <a:spcAft>
                <a:spcPct val="0"/>
              </a:spcAft>
              <a:buFontTx/>
              <a:buChar char="•"/>
            </a:pPr>
            <a:r>
              <a:rPr kumimoji="0" lang="en-US" altLang="en-US" b="1" i="0" u="none" strike="noStrike" cap="none" normalizeH="0" baseline="0" dirty="0">
                <a:ln>
                  <a:noFill/>
                </a:ln>
                <a:solidFill>
                  <a:schemeClr val="tx1"/>
                </a:solidFill>
                <a:effectLst/>
                <a:latin typeface="Bell MT" panose="02020503060305020303" pitchFamily="18" charset="0"/>
              </a:rPr>
              <a:t> </a:t>
            </a:r>
            <a:r>
              <a:rPr kumimoji="0" lang="en-US" altLang="en-US" sz="1700" b="1" i="0" u="none" strike="noStrike" cap="none" normalizeH="0" baseline="0" dirty="0">
                <a:ln>
                  <a:noFill/>
                </a:ln>
                <a:solidFill>
                  <a:schemeClr val="tx1"/>
                </a:solidFill>
                <a:effectLst/>
                <a:latin typeface="Bell MT" panose="02020503060305020303" pitchFamily="18" charset="0"/>
              </a:rPr>
              <a:t>Power Query (M Language)</a:t>
            </a:r>
            <a:r>
              <a:rPr kumimoji="0" lang="en-US" altLang="en-US" sz="1700" b="0" i="0" u="none" strike="noStrike" cap="none" normalizeH="0" baseline="0" dirty="0">
                <a:ln>
                  <a:noFill/>
                </a:ln>
                <a:solidFill>
                  <a:schemeClr val="tx1"/>
                </a:solidFill>
                <a:effectLst/>
                <a:latin typeface="Bell MT" panose="02020503060305020303" pitchFamily="18" charset="0"/>
              </a:rPr>
              <a:t> for data cleaning and transformation.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030E26BD-9D48-5BB1-1613-7AA63E0463FF}"/>
              </a:ext>
            </a:extLst>
          </p:cNvPr>
          <p:cNvSpPr>
            <a:spLocks noChangeArrowheads="1"/>
          </p:cNvSpPr>
          <p:nvPr/>
        </p:nvSpPr>
        <p:spPr bwMode="auto">
          <a:xfrm>
            <a:off x="-803893" y="5280734"/>
            <a:ext cx="8757910"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3" eaLnBrk="0" fontAlgn="base" hangingPunct="0">
              <a:spcBef>
                <a:spcPct val="0"/>
              </a:spcBef>
              <a:spcAft>
                <a:spcPct val="0"/>
              </a:spcAft>
            </a:pPr>
            <a:r>
              <a:rPr kumimoji="0" lang="en-US" altLang="en-US" sz="1700" b="1" i="0" u="none" strike="noStrike" cap="none" normalizeH="0" baseline="0" dirty="0">
                <a:ln>
                  <a:noFill/>
                </a:ln>
                <a:solidFill>
                  <a:schemeClr val="tx1"/>
                </a:solidFill>
                <a:effectLst/>
                <a:latin typeface="Bell MT" panose="02020503060305020303" pitchFamily="18" charset="0"/>
              </a:rPr>
              <a:t>           .   DAX (Data Analysis Expressions)</a:t>
            </a:r>
            <a:r>
              <a:rPr kumimoji="0" lang="en-US" altLang="en-US" sz="1700" b="0" i="0" u="none" strike="noStrike" cap="none" normalizeH="0" baseline="0" dirty="0">
                <a:ln>
                  <a:noFill/>
                </a:ln>
                <a:solidFill>
                  <a:schemeClr val="tx1"/>
                </a:solidFill>
                <a:effectLst/>
                <a:latin typeface="Bell MT" panose="02020503060305020303" pitchFamily="18" charset="0"/>
              </a:rPr>
              <a:t> for calculated measures and KPIs.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7">
            <a:extLst>
              <a:ext uri="{FF2B5EF4-FFF2-40B4-BE49-F238E27FC236}">
                <a16:creationId xmlns:a16="http://schemas.microsoft.com/office/drawing/2014/main" id="{36312DF8-2A79-A9A5-CCBF-46E48A4DC56F}"/>
              </a:ext>
            </a:extLst>
          </p:cNvPr>
          <p:cNvSpPr>
            <a:spLocks noChangeArrowheads="1"/>
          </p:cNvSpPr>
          <p:nvPr/>
        </p:nvSpPr>
        <p:spPr bwMode="auto">
          <a:xfrm>
            <a:off x="558800" y="5603900"/>
            <a:ext cx="6607193"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2" eaLnBrk="0" fontAlgn="base" hangingPunct="0">
              <a:spcBef>
                <a:spcPct val="0"/>
              </a:spcBef>
              <a:spcAft>
                <a:spcPct val="0"/>
              </a:spcAft>
              <a:buFontTx/>
              <a:buChar char="•"/>
            </a:pPr>
            <a:r>
              <a:rPr kumimoji="0" lang="en-US" altLang="en-US" sz="1700" b="1" i="0" u="none" strike="noStrike" cap="none" normalizeH="0" baseline="0" dirty="0">
                <a:ln>
                  <a:noFill/>
                </a:ln>
                <a:solidFill>
                  <a:schemeClr val="tx1"/>
                </a:solidFill>
                <a:effectLst/>
                <a:latin typeface="Bell MT" panose="02020503060305020303" pitchFamily="18" charset="0"/>
              </a:rPr>
              <a:t>Power BI Visuals Library</a:t>
            </a:r>
            <a:r>
              <a:rPr kumimoji="0" lang="en-US" altLang="en-US" sz="1700" b="0" i="0" u="none" strike="noStrike" cap="none" normalizeH="0" baseline="0" dirty="0">
                <a:ln>
                  <a:noFill/>
                </a:ln>
                <a:solidFill>
                  <a:schemeClr val="tx1"/>
                </a:solidFill>
                <a:effectLst/>
                <a:latin typeface="Bell MT" panose="02020503060305020303" pitchFamily="18" charset="0"/>
              </a:rPr>
              <a:t> for charts, maps, and dashboards.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8">
            <a:extLst>
              <a:ext uri="{FF2B5EF4-FFF2-40B4-BE49-F238E27FC236}">
                <a16:creationId xmlns:a16="http://schemas.microsoft.com/office/drawing/2014/main" id="{B926D5EC-657E-D2ED-3572-C167B4B7C23F}"/>
              </a:ext>
            </a:extLst>
          </p:cNvPr>
          <p:cNvSpPr>
            <a:spLocks noChangeArrowheads="1"/>
          </p:cNvSpPr>
          <p:nvPr/>
        </p:nvSpPr>
        <p:spPr bwMode="auto">
          <a:xfrm>
            <a:off x="317409" y="5919371"/>
            <a:ext cx="1106424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700" b="0" i="0" u="none" strike="noStrike" cap="none" normalizeH="0" baseline="0" dirty="0">
                <a:ln>
                  <a:noFill/>
                </a:ln>
                <a:solidFill>
                  <a:schemeClr val="tx1"/>
                </a:solidFill>
                <a:effectLst/>
                <a:latin typeface="Bell MT" panose="02020503060305020303" pitchFamily="18" charset="0"/>
              </a:rPr>
              <a:t>: </a:t>
            </a:r>
            <a:r>
              <a:rPr lang="en-US" altLang="en-US" sz="1700" b="1" dirty="0">
                <a:latin typeface="Bell MT" panose="02020503060305020303" pitchFamily="18" charset="0"/>
              </a:rPr>
              <a:t>Methodology </a:t>
            </a:r>
            <a:r>
              <a:rPr kumimoji="0" lang="en-US" altLang="en-US" sz="1700" b="0" i="0" u="none" strike="noStrike" cap="none" normalizeH="0" baseline="0" dirty="0">
                <a:ln>
                  <a:noFill/>
                </a:ln>
                <a:solidFill>
                  <a:schemeClr val="tx1"/>
                </a:solidFill>
                <a:effectLst/>
                <a:latin typeface="Bell MT" panose="02020503060305020303" pitchFamily="18" charset="0"/>
              </a:rPr>
              <a:t>Import raw data → Clean and preprocess → Build relationships → Create KPIs and visuals → Deploy and share</a:t>
            </a:r>
            <a:r>
              <a:rPr kumimoji="0" lang="en-US" altLang="en-US" sz="1800" b="0" i="0" u="none" strike="noStrike" cap="none" normalizeH="0" baseline="0" dirty="0">
                <a:ln>
                  <a:noFill/>
                </a:ln>
                <a:solidFill>
                  <a:schemeClr val="tx1"/>
                </a:solidFill>
                <a:effectLst/>
                <a:latin typeface="Bell MT" panose="02020503060305020303"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13840"/>
            <a:ext cx="10515600" cy="4947920"/>
          </a:xfrm>
        </p:spPr>
        <p:txBody>
          <a:bodyPr vert="horz" lIns="91440" tIns="45720" rIns="91440" bIns="45720" rtlCol="0">
            <a:normAutofit/>
          </a:bodyPr>
          <a:lstStyle/>
          <a:p>
            <a:pPr marL="305435" indent="-305435">
              <a:spcBef>
                <a:spcPct val="20000"/>
              </a:spcBef>
              <a:spcAft>
                <a:spcPts val="600"/>
              </a:spcAft>
              <a:buFont typeface="Arial" panose="020B0604020202020204"/>
              <a:buChar char="•"/>
            </a:pPr>
            <a:r>
              <a:rPr lang="en-IN" sz="1500" dirty="0">
                <a:latin typeface="Bell MT" panose="02020503060305020303" pitchFamily="18" charset="0"/>
              </a:rPr>
              <a:t>In the Algorithm section, we describe the analytical report on E-commerce. Here's an example structure for this section:</a:t>
            </a:r>
          </a:p>
          <a:p>
            <a:pPr marL="305435" indent="-305435">
              <a:spcBef>
                <a:spcPct val="20000"/>
              </a:spcBef>
              <a:spcAft>
                <a:spcPts val="600"/>
              </a:spcAft>
              <a:buFont typeface="Arial" panose="020B0604020202020204"/>
              <a:buChar char="•"/>
            </a:pPr>
            <a:r>
              <a:rPr lang="en-IN" sz="1500" b="1" dirty="0">
                <a:latin typeface="Bell MT" panose="02020503060305020303" pitchFamily="18" charset="0"/>
              </a:rPr>
              <a:t>Algorithm Selection:</a:t>
            </a:r>
            <a:endParaRPr lang="en-IN" sz="1500" dirty="0">
              <a:latin typeface="Bell MT" panose="02020503060305020303" pitchFamily="18" charset="0"/>
            </a:endParaRPr>
          </a:p>
          <a:p>
            <a:pPr marL="629920" lvl="1" indent="-305435">
              <a:spcBef>
                <a:spcPct val="20000"/>
              </a:spcBef>
              <a:spcAft>
                <a:spcPts val="600"/>
              </a:spcAft>
              <a:buFont typeface="Arial" panose="020B0604020202020204"/>
              <a:buChar char="•"/>
            </a:pPr>
            <a:r>
              <a:rPr lang="en-US" sz="1800" dirty="0">
                <a:latin typeface="Bell MT" panose="02020503060305020303" pitchFamily="18" charset="0"/>
              </a:rPr>
              <a:t>Descriptive</a:t>
            </a:r>
            <a:r>
              <a:rPr lang="en-US" sz="1600" dirty="0">
                <a:latin typeface="Bell MT" panose="02020503060305020303" pitchFamily="18" charset="0"/>
              </a:rPr>
              <a:t> analytics with Power BI; forecasting using built‑in models (e.g., regression, exponential smoothing).</a:t>
            </a:r>
            <a:r>
              <a:rPr lang="en-IN" sz="1500" dirty="0">
                <a:latin typeface="Bell MT" panose="02020503060305020303" pitchFamily="18" charset="0"/>
              </a:rPr>
              <a:t>.</a:t>
            </a:r>
          </a:p>
          <a:p>
            <a:pPr marL="305435" indent="-305435">
              <a:spcBef>
                <a:spcPct val="20000"/>
              </a:spcBef>
              <a:spcAft>
                <a:spcPts val="600"/>
              </a:spcAft>
              <a:buFont typeface="Arial" panose="020B0604020202020204"/>
              <a:buChar char="•"/>
            </a:pPr>
            <a:r>
              <a:rPr lang="en-IN" sz="1500" b="1" dirty="0">
                <a:latin typeface="Bell MT" panose="02020503060305020303" pitchFamily="18" charset="0"/>
              </a:rPr>
              <a:t>Data Input:</a:t>
            </a:r>
          </a:p>
          <a:p>
            <a:pPr marL="305435" indent="-305435">
              <a:spcBef>
                <a:spcPct val="20000"/>
              </a:spcBef>
              <a:spcAft>
                <a:spcPts val="600"/>
              </a:spcAft>
              <a:buFont typeface="Arial" panose="020B0604020202020204"/>
              <a:buChar char="•"/>
            </a:pPr>
            <a:r>
              <a:rPr lang="en-US" sz="1600" dirty="0">
                <a:latin typeface="Bell MT" panose="02020503060305020303" pitchFamily="18" charset="0"/>
              </a:rPr>
              <a:t>Orders, sales, profit, discounts, shipping mode, customer segment, region.</a:t>
            </a:r>
            <a:endParaRPr lang="en-IN" sz="1500" dirty="0">
              <a:latin typeface="Bell MT" panose="02020503060305020303" pitchFamily="18" charset="0"/>
            </a:endParaRPr>
          </a:p>
          <a:p>
            <a:pPr marL="305435" indent="-305435">
              <a:spcBef>
                <a:spcPct val="20000"/>
              </a:spcBef>
              <a:spcAft>
                <a:spcPts val="600"/>
              </a:spcAft>
              <a:buFont typeface="Arial" panose="020B0604020202020204"/>
              <a:buChar char="•"/>
            </a:pPr>
            <a:r>
              <a:rPr lang="en-IN" sz="1500" b="1" dirty="0">
                <a:latin typeface="Bell MT" panose="02020503060305020303" pitchFamily="18" charset="0"/>
              </a:rPr>
              <a:t>Training Process:</a:t>
            </a:r>
            <a:endParaRPr lang="en-IN" sz="1500" dirty="0">
              <a:latin typeface="Bell MT" panose="02020503060305020303" pitchFamily="18" charset="0"/>
            </a:endParaRPr>
          </a:p>
          <a:p>
            <a:pPr marL="629920" lvl="1" indent="-305435">
              <a:spcBef>
                <a:spcPct val="20000"/>
              </a:spcBef>
              <a:spcAft>
                <a:spcPts val="600"/>
              </a:spcAft>
              <a:buFont typeface="Arial" panose="020B0604020202020204"/>
              <a:buChar char="•"/>
            </a:pPr>
            <a:r>
              <a:rPr lang="en-US" sz="1600" dirty="0">
                <a:latin typeface="Bell MT" panose="02020503060305020303" pitchFamily="18" charset="0"/>
              </a:rPr>
              <a:t>Data modeling in Power BI; relationships established; KPIs calculated using DAX.</a:t>
            </a:r>
            <a:r>
              <a:rPr lang="en-IN" sz="1500" dirty="0">
                <a:latin typeface="Bell MT" panose="02020503060305020303" pitchFamily="18" charset="0"/>
              </a:rPr>
              <a:t>.</a:t>
            </a:r>
          </a:p>
          <a:p>
            <a:pPr marL="305435" indent="-305435">
              <a:spcBef>
                <a:spcPct val="20000"/>
              </a:spcBef>
              <a:spcAft>
                <a:spcPts val="600"/>
              </a:spcAft>
              <a:buFont typeface="Arial" panose="020B0604020202020204"/>
              <a:buChar char="•"/>
            </a:pPr>
            <a:r>
              <a:rPr lang="en-IN" sz="1500" b="1" dirty="0">
                <a:latin typeface="Bell MT" panose="02020503060305020303" pitchFamily="18" charset="0"/>
              </a:rPr>
              <a:t>Prediction Process:</a:t>
            </a:r>
            <a:endParaRPr lang="en-IN" sz="1500" dirty="0">
              <a:latin typeface="Bell MT" panose="02020503060305020303" pitchFamily="18" charset="0"/>
            </a:endParaRPr>
          </a:p>
          <a:p>
            <a:pPr marL="629920" lvl="1" indent="-305435">
              <a:spcBef>
                <a:spcPct val="20000"/>
              </a:spcBef>
              <a:spcAft>
                <a:spcPts val="600"/>
              </a:spcAft>
              <a:buFont typeface="Arial" panose="020B0604020202020204"/>
              <a:buChar char="•"/>
            </a:pPr>
            <a:r>
              <a:rPr lang="en-US" sz="1600" dirty="0">
                <a:latin typeface="Bell MT" panose="02020503060305020303" pitchFamily="18" charset="0"/>
              </a:rPr>
              <a:t>Forecasting sales and profit trends; scenario analysis for discounts and shipping modes</a:t>
            </a:r>
            <a:r>
              <a:rPr lang="en-IN" sz="1500" dirty="0">
                <a:latin typeface="Bell MT" panose="02020503060305020303" pitchFamily="18" charset="0"/>
              </a:rPr>
              <a:t>.</a:t>
            </a:r>
            <a:endParaRPr lang="en-GB" sz="1500" dirty="0">
              <a:latin typeface="Bell MT" panose="02020503060305020303" pitchFamily="18" charset="0"/>
            </a:endParaRPr>
          </a:p>
          <a:p>
            <a:pPr marL="629920" lvl="1" indent="-305435">
              <a:spcBef>
                <a:spcPct val="20000"/>
              </a:spcBef>
              <a:spcAft>
                <a:spcPts val="600"/>
              </a:spcAft>
              <a:buFont typeface="Arial" panose="020B0604020202020204"/>
              <a:buChar char="•"/>
            </a:pPr>
            <a:endParaRPr lang="en-IN" sz="1500" dirty="0">
              <a:latin typeface="Franklin Gothic Book" panose="020B0503020102020204"/>
            </a:endParaRPr>
          </a:p>
        </p:txBody>
      </p:sp>
      <p:sp>
        <p:nvSpPr>
          <p:cNvPr id="4" name="Rectangle 1">
            <a:extLst>
              <a:ext uri="{FF2B5EF4-FFF2-40B4-BE49-F238E27FC236}">
                <a16:creationId xmlns:a16="http://schemas.microsoft.com/office/drawing/2014/main" id="{57C1C2A9-640B-F414-20CC-10442134AC25}"/>
              </a:ext>
            </a:extLst>
          </p:cNvPr>
          <p:cNvSpPr>
            <a:spLocks noChangeArrowheads="1"/>
          </p:cNvSpPr>
          <p:nvPr/>
        </p:nvSpPr>
        <p:spPr bwMode="auto">
          <a:xfrm>
            <a:off x="-599440" y="4839271"/>
            <a:ext cx="990346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3" eaLnBrk="0" fontAlgn="base" hangingPunct="0">
              <a:spcBef>
                <a:spcPct val="0"/>
              </a:spcBef>
              <a:spcAft>
                <a:spcPct val="0"/>
              </a:spcAft>
              <a:buFontTx/>
              <a:buChar char="•"/>
            </a:pPr>
            <a:r>
              <a:rPr kumimoji="0" lang="en-US" altLang="en-US" sz="1600" b="1" i="0" u="none" strike="noStrike" cap="none" normalizeH="0" baseline="0" dirty="0">
                <a:ln>
                  <a:noFill/>
                </a:ln>
                <a:solidFill>
                  <a:schemeClr val="tx1"/>
                </a:solidFill>
                <a:effectLst/>
                <a:latin typeface="Bell MT" panose="02020503060305020303" pitchFamily="18" charset="0"/>
              </a:rPr>
              <a:t>Deployment</a:t>
            </a:r>
            <a:r>
              <a:rPr kumimoji="0" lang="en-US" altLang="en-US" sz="1600" b="0" i="0" u="none" strike="noStrike" cap="none" normalizeH="0" baseline="0" dirty="0">
                <a:ln>
                  <a:noFill/>
                </a:ln>
                <a:solidFill>
                  <a:schemeClr val="tx1"/>
                </a:solidFill>
                <a:effectLst/>
                <a:latin typeface="Bell MT" panose="02020503060305020303" pitchFamily="18" charset="0"/>
              </a:rPr>
              <a:t>:</a:t>
            </a:r>
            <a:br>
              <a:rPr kumimoji="0" lang="en-US" altLang="en-US" sz="1600" b="0" i="0" u="none" strike="noStrike" cap="none" normalizeH="0" baseline="0" dirty="0">
                <a:ln>
                  <a:noFill/>
                </a:ln>
                <a:solidFill>
                  <a:schemeClr val="tx1"/>
                </a:solidFill>
                <a:effectLst/>
                <a:latin typeface="Bell MT" panose="02020503060305020303" pitchFamily="18" charset="0"/>
              </a:rPr>
            </a:br>
            <a:r>
              <a:rPr kumimoji="0" lang="en-US" altLang="en-US" sz="1600" b="1" i="0" u="none" strike="noStrike" cap="none" normalizeH="0" baseline="0" dirty="0">
                <a:ln>
                  <a:noFill/>
                </a:ln>
                <a:solidFill>
                  <a:schemeClr val="tx1"/>
                </a:solidFill>
                <a:effectLst/>
                <a:latin typeface="Bell MT" panose="02020503060305020303" pitchFamily="18" charset="0"/>
              </a:rPr>
              <a:t>    .  </a:t>
            </a:r>
            <a:r>
              <a:rPr kumimoji="0" lang="en-US" altLang="en-US" sz="1600" b="0" i="0" u="none" strike="noStrike" cap="none" normalizeH="0" baseline="0" dirty="0">
                <a:ln>
                  <a:noFill/>
                </a:ln>
                <a:solidFill>
                  <a:schemeClr val="tx1"/>
                </a:solidFill>
                <a:effectLst/>
                <a:latin typeface="Bell MT" panose="02020503060305020303" pitchFamily="18" charset="0"/>
              </a:rPr>
              <a:t>Dashboard published on Power BI Service; integrated with Azure for scalability and real‑time   updates; accessible across devices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280160"/>
            <a:ext cx="10515600" cy="4555903"/>
          </a:xfrm>
        </p:spPr>
        <p:txBody>
          <a:bodyPr vert="horz" lIns="91440" tIns="45720" rIns="91440" bIns="45720" rtlCol="0">
            <a:normAutofit/>
          </a:bodyPr>
          <a:lstStyle/>
          <a:p>
            <a:r>
              <a:rPr lang="en-US" sz="2400" dirty="0">
                <a:latin typeface="Bell MT" panose="02020503060305020303" pitchFamily="18" charset="0"/>
              </a:rPr>
              <a:t>The dashboard provides clear insights into e‑commerce performance:</a:t>
            </a:r>
          </a:p>
          <a:p>
            <a:r>
              <a:rPr lang="en-US" sz="2400" b="1" dirty="0">
                <a:latin typeface="Bell MT" panose="02020503060305020303" pitchFamily="18" charset="0"/>
              </a:rPr>
              <a:t>Sales by Category</a:t>
            </a:r>
            <a:r>
              <a:rPr lang="en-US" sz="2400" dirty="0">
                <a:latin typeface="Bell MT" panose="02020503060305020303" pitchFamily="18" charset="0"/>
              </a:rPr>
              <a:t>: Technology leads (~0.9M).</a:t>
            </a:r>
          </a:p>
          <a:p>
            <a:r>
              <a:rPr lang="en-US" sz="2400" b="1" dirty="0">
                <a:latin typeface="Bell MT" panose="02020503060305020303" pitchFamily="18" charset="0"/>
              </a:rPr>
              <a:t>Profit by Subcategory</a:t>
            </a:r>
            <a:r>
              <a:rPr lang="en-US" sz="2400" dirty="0">
                <a:latin typeface="Bell MT" panose="02020503060305020303" pitchFamily="18" charset="0"/>
              </a:rPr>
              <a:t>: Copiers and Phones are top contributors.</a:t>
            </a:r>
          </a:p>
          <a:p>
            <a:r>
              <a:rPr lang="en-US" sz="2400" b="1" dirty="0">
                <a:latin typeface="Bell MT" panose="02020503060305020303" pitchFamily="18" charset="0"/>
              </a:rPr>
              <a:t>Regional Sales</a:t>
            </a:r>
            <a:r>
              <a:rPr lang="en-US" sz="2400" dirty="0">
                <a:latin typeface="Bell MT" panose="02020503060305020303" pitchFamily="18" charset="0"/>
              </a:rPr>
              <a:t>: West region dominates (31.58%).</a:t>
            </a:r>
          </a:p>
          <a:p>
            <a:r>
              <a:rPr lang="en-US" sz="2400" b="1" dirty="0">
                <a:latin typeface="Bell MT" panose="02020503060305020303" pitchFamily="18" charset="0"/>
              </a:rPr>
              <a:t>Customer Segments</a:t>
            </a:r>
            <a:r>
              <a:rPr lang="en-US" sz="2400" dirty="0">
                <a:latin typeface="Bell MT" panose="02020503060305020303" pitchFamily="18" charset="0"/>
              </a:rPr>
              <a:t>: Consumer segment contributes over 50% of sales.</a:t>
            </a:r>
          </a:p>
          <a:p>
            <a:r>
              <a:rPr lang="en-US" sz="2400" b="1" dirty="0">
                <a:latin typeface="Bell MT" panose="02020503060305020303" pitchFamily="18" charset="0"/>
              </a:rPr>
              <a:t>Discount Analysis</a:t>
            </a:r>
            <a:r>
              <a:rPr lang="en-US" sz="2400" dirty="0">
                <a:latin typeface="Bell MT" panose="02020503060305020303" pitchFamily="18" charset="0"/>
              </a:rPr>
              <a:t>: Majority of orders placed without discounts, ensuring profitability.</a:t>
            </a:r>
          </a:p>
          <a:p>
            <a:r>
              <a:rPr lang="en-US" sz="2400" dirty="0">
                <a:latin typeface="Bell MT" panose="02020503060305020303" pitchFamily="18" charset="0"/>
              </a:rPr>
              <a:t> The dashboard demonstrate its effectiveness in visualizing KPIs and trends</a:t>
            </a:r>
            <a:r>
              <a:rPr lang="en-US" sz="1600" dirty="0">
                <a:latin typeface="Bell MT" panose="02020503060305020303" pitchFamily="18" charset="0"/>
              </a:rPr>
              <a:t>.</a:t>
            </a:r>
          </a:p>
          <a:p>
            <a:pPr marL="0" indent="0">
              <a:buNone/>
            </a:pPr>
            <a:r>
              <a:rPr lang="en-IN" sz="1600" b="1" dirty="0">
                <a:latin typeface="Bell MT" panose="02020503060305020303" pitchFamily="18" charset="0"/>
              </a:rPr>
              <a:t>~ FINAL PROJECT LINK : </a:t>
            </a:r>
            <a:r>
              <a:rPr lang="en-IN" sz="1600" dirty="0">
                <a:latin typeface="Bell MT" panose="02020503060305020303" pitchFamily="18" charset="0"/>
                <a:hlinkClick r:id="rId2"/>
              </a:rPr>
              <a:t>samiakhan1697-prog/E-Commerce-Sales-Dashboard-</a:t>
            </a:r>
            <a:r>
              <a:rPr lang="en-IN" sz="1600" dirty="0" err="1">
                <a:latin typeface="Bell MT" panose="02020503060305020303" pitchFamily="18" charset="0"/>
                <a:hlinkClick r:id="rId2"/>
              </a:rPr>
              <a:t>PowerBI</a:t>
            </a:r>
            <a:r>
              <a:rPr lang="en-IN" sz="1600" dirty="0">
                <a:latin typeface="Bell MT" panose="02020503060305020303" pitchFamily="18" charset="0"/>
                <a:hlinkClick r:id="rId2"/>
              </a:rPr>
              <a:t>: Power BI E-Commerce Sales Dashboard Capstone Project</a:t>
            </a:r>
            <a:endParaRPr lang="en-IN" sz="1600" b="1" dirty="0">
              <a:latin typeface="Bell MT" panose="02020503060305020303" pitchFamily="18" charset="0"/>
            </a:endParaRPr>
          </a:p>
          <a:p>
            <a:pPr marL="0" indent="0">
              <a:buNone/>
            </a:pP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9B01-3422-74BF-9BB9-900BA695E88C}"/>
              </a:ext>
            </a:extLst>
          </p:cNvPr>
          <p:cNvSpPr>
            <a:spLocks noGrp="1"/>
          </p:cNvSpPr>
          <p:nvPr>
            <p:ph type="title"/>
          </p:nvPr>
        </p:nvSpPr>
        <p:spPr/>
        <p:txBody>
          <a:bodyPr/>
          <a:lstStyle/>
          <a:p>
            <a:r>
              <a:rPr lang="en-US" dirty="0"/>
              <a:t>RESULT</a:t>
            </a:r>
            <a:br>
              <a:rPr lang="en-US" dirty="0"/>
            </a:br>
            <a:endParaRPr lang="en-IN" dirty="0"/>
          </a:p>
        </p:txBody>
      </p:sp>
      <p:pic>
        <p:nvPicPr>
          <p:cNvPr id="5" name="Content Placeholder 4">
            <a:extLst>
              <a:ext uri="{FF2B5EF4-FFF2-40B4-BE49-F238E27FC236}">
                <a16:creationId xmlns:a16="http://schemas.microsoft.com/office/drawing/2014/main" id="{5EF501A8-DCF4-4CAE-B3EE-780937F971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prstGeom prst="rect">
            <a:avLst/>
          </a:prstGeom>
          <a:ln w="228600" cap="sq" cmpd="thickThin">
            <a:solidFill>
              <a:srgbClr val="000000"/>
            </a:solidFill>
            <a:prstDash val="solid"/>
            <a:miter lim="800000"/>
          </a:ln>
          <a:effectLst>
            <a:innerShdw blurRad="76200">
              <a:srgbClr val="000000"/>
            </a:innerShdw>
          </a:effectLst>
        </p:spPr>
      </p:pic>
      <p:pic>
        <p:nvPicPr>
          <p:cNvPr id="7" name="Picture 6">
            <a:extLst>
              <a:ext uri="{FF2B5EF4-FFF2-40B4-BE49-F238E27FC236}">
                <a16:creationId xmlns:a16="http://schemas.microsoft.com/office/drawing/2014/main" id="{738FB6BF-62B9-B6C3-5073-4A0B7E98ACD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58616" y="772160"/>
            <a:ext cx="10201952" cy="5852160"/>
          </a:xfrm>
          <a:prstGeom prst="rect">
            <a:avLst/>
          </a:prstGeom>
        </p:spPr>
      </p:pic>
    </p:spTree>
    <p:extLst>
      <p:ext uri="{BB962C8B-B14F-4D97-AF65-F5344CB8AC3E}">
        <p14:creationId xmlns:p14="http://schemas.microsoft.com/office/powerpoint/2010/main" val="2295851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A742F-73E7-4769-111A-69E3D6656144}"/>
              </a:ext>
            </a:extLst>
          </p:cNvPr>
          <p:cNvSpPr>
            <a:spLocks noGrp="1"/>
          </p:cNvSpPr>
          <p:nvPr>
            <p:ph type="title"/>
          </p:nvPr>
        </p:nvSpPr>
        <p:spPr/>
        <p:txBody>
          <a:bodyPr/>
          <a:lstStyle/>
          <a:p>
            <a:r>
              <a:rPr lang="en-US" dirty="0"/>
              <a:t>RESULT</a:t>
            </a:r>
            <a:endParaRPr lang="en-IN" dirty="0"/>
          </a:p>
        </p:txBody>
      </p:sp>
      <p:pic>
        <p:nvPicPr>
          <p:cNvPr id="5" name="Content Placeholder 4">
            <a:extLst>
              <a:ext uri="{FF2B5EF4-FFF2-40B4-BE49-F238E27FC236}">
                <a16:creationId xmlns:a16="http://schemas.microsoft.com/office/drawing/2014/main" id="{89D8D50E-C2DA-2DA1-5347-0E82387476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prstGeom prst="rect">
            <a:avLst/>
          </a:prstGeom>
          <a:ln w="228600" cap="sq" cmpd="thickThin">
            <a:solidFill>
              <a:srgbClr val="000000"/>
            </a:solidFill>
            <a:prstDash val="solid"/>
            <a:miter lim="800000"/>
          </a:ln>
          <a:effectLst>
            <a:innerShdw blurRad="76200">
              <a:srgbClr val="000000"/>
            </a:innerShdw>
          </a:effectLst>
        </p:spPr>
      </p:pic>
      <p:pic>
        <p:nvPicPr>
          <p:cNvPr id="7" name="Picture 6">
            <a:extLst>
              <a:ext uri="{FF2B5EF4-FFF2-40B4-BE49-F238E27FC236}">
                <a16:creationId xmlns:a16="http://schemas.microsoft.com/office/drawing/2014/main" id="{9BFEFCE9-E1FF-F2B0-425B-AAB9662ED17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35842" y="701040"/>
            <a:ext cx="10456155" cy="5923280"/>
          </a:xfrm>
          <a:prstGeom prst="rect">
            <a:avLst/>
          </a:prstGeom>
        </p:spPr>
      </p:pic>
    </p:spTree>
    <p:extLst>
      <p:ext uri="{BB962C8B-B14F-4D97-AF65-F5344CB8AC3E}">
        <p14:creationId xmlns:p14="http://schemas.microsoft.com/office/powerpoint/2010/main" val="337829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382251-C99D-1886-6F78-063D025F4FF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98147" y="879868"/>
            <a:ext cx="9779144" cy="5585944"/>
          </a:xfrm>
          <a:prstGeom prst="rect">
            <a:avLst/>
          </a:prstGeom>
        </p:spPr>
      </p:pic>
    </p:spTree>
    <p:extLst>
      <p:ext uri="{BB962C8B-B14F-4D97-AF65-F5344CB8AC3E}">
        <p14:creationId xmlns:p14="http://schemas.microsoft.com/office/powerpoint/2010/main" val="1786575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93068" y="1727200"/>
            <a:ext cx="10669571" cy="5242560"/>
          </a:xfrm>
        </p:spPr>
        <p:txBody>
          <a:bodyPr vert="horz" lIns="91440" tIns="45720" rIns="91440" bIns="45720" rtlCol="0">
            <a:normAutofit fontScale="77500" lnSpcReduction="20000"/>
          </a:bodyPr>
          <a:lstStyle/>
          <a:p>
            <a:r>
              <a:rPr lang="en-US" sz="2400" dirty="0">
                <a:latin typeface="Bell MT" panose="02020503060305020303" pitchFamily="18" charset="0"/>
              </a:rPr>
              <a:t>The </a:t>
            </a:r>
            <a:r>
              <a:rPr lang="en-US" sz="2400" b="1" dirty="0">
                <a:latin typeface="Bell MT" panose="02020503060305020303" pitchFamily="18" charset="0"/>
              </a:rPr>
              <a:t>E‑Commerce Report Analysis Dashboard</a:t>
            </a:r>
            <a:r>
              <a:rPr lang="en-US" sz="2400" dirty="0">
                <a:latin typeface="Bell MT" panose="02020503060305020303" pitchFamily="18" charset="0"/>
              </a:rPr>
              <a:t> effectively demonstrates how raw transactional data can be transformed into actionable business insights. By consolidating sales, profit, orders, and customer segment information into a single interactive platform, the dashboard provides decision‑makers with a clear and comprehensive view of business performance.</a:t>
            </a:r>
          </a:p>
          <a:p>
            <a:r>
              <a:rPr lang="en-US" sz="2400" dirty="0">
                <a:latin typeface="Bell MT" panose="02020503060305020303" pitchFamily="18" charset="0"/>
              </a:rPr>
              <a:t>Key findings highlight that the </a:t>
            </a:r>
            <a:r>
              <a:rPr lang="en-US" sz="2400" b="1" dirty="0">
                <a:latin typeface="Bell MT" panose="02020503060305020303" pitchFamily="18" charset="0"/>
              </a:rPr>
              <a:t>Technology category</a:t>
            </a:r>
            <a:r>
              <a:rPr lang="en-US" sz="2400" dirty="0">
                <a:latin typeface="Bell MT" panose="02020503060305020303" pitchFamily="18" charset="0"/>
              </a:rPr>
              <a:t> contributes the highest sales (~0.9M), while </a:t>
            </a:r>
            <a:r>
              <a:rPr lang="en-US" sz="2400" b="1" dirty="0">
                <a:latin typeface="Bell MT" panose="02020503060305020303" pitchFamily="18" charset="0"/>
              </a:rPr>
              <a:t>Copiers and Phones</a:t>
            </a:r>
            <a:r>
              <a:rPr lang="en-US" sz="2400" dirty="0">
                <a:latin typeface="Bell MT" panose="02020503060305020303" pitchFamily="18" charset="0"/>
              </a:rPr>
              <a:t> are the most profitable subcategories. Regionally, the </a:t>
            </a:r>
            <a:r>
              <a:rPr lang="en-US" sz="2400" b="1" dirty="0">
                <a:latin typeface="Bell MT" panose="02020503060305020303" pitchFamily="18" charset="0"/>
              </a:rPr>
              <a:t>West region dominates with 31.58% of total sales</a:t>
            </a:r>
            <a:r>
              <a:rPr lang="en-US" sz="2400" dirty="0">
                <a:latin typeface="Bell MT" panose="02020503060305020303" pitchFamily="18" charset="0"/>
              </a:rPr>
              <a:t>, and the </a:t>
            </a:r>
            <a:r>
              <a:rPr lang="en-US" sz="2400" b="1" dirty="0">
                <a:latin typeface="Bell MT" panose="02020503060305020303" pitchFamily="18" charset="0"/>
              </a:rPr>
              <a:t>Consumer segment accounts for more than half of overall revenue</a:t>
            </a:r>
            <a:r>
              <a:rPr lang="en-US" sz="2400" dirty="0">
                <a:latin typeface="Bell MT" panose="02020503060305020303" pitchFamily="18" charset="0"/>
              </a:rPr>
              <a:t>, emphasizing the importance of customer segmentation in strategy planning. The analysis also reveals that most orders are placed without discounts, ensuring profitability, while shipping modes play a significant role in customer satisfaction and cost management.</a:t>
            </a:r>
          </a:p>
          <a:p>
            <a:r>
              <a:rPr lang="en-US" sz="2400" dirty="0">
                <a:latin typeface="Bell MT" panose="02020503060305020303" pitchFamily="18" charset="0"/>
              </a:rPr>
              <a:t>Beyond the insights, the project underscores the importance of </a:t>
            </a:r>
            <a:r>
              <a:rPr lang="en-US" sz="2400" b="1" dirty="0">
                <a:latin typeface="Bell MT" panose="02020503060305020303" pitchFamily="18" charset="0"/>
              </a:rPr>
              <a:t>data visualization and storytelling</a:t>
            </a:r>
            <a:r>
              <a:rPr lang="en-US" sz="2400" dirty="0">
                <a:latin typeface="Bell MT" panose="02020503060305020303" pitchFamily="18" charset="0"/>
              </a:rPr>
              <a:t> in modern analytics. Instead of static reports, the dashboard enables interactive exploration, allowing managers to drill down into specific categories, regions, or customer segments. This dynamic approach ensures faster, smarter, and more informed decision‑making.</a:t>
            </a:r>
          </a:p>
          <a:p>
            <a:r>
              <a:rPr lang="en-US" sz="2400" dirty="0">
                <a:latin typeface="Bell MT" panose="02020503060305020303" pitchFamily="18" charset="0"/>
              </a:rPr>
              <a:t>Challenges encountered during development included handling data inconsistencies, designing user‑friendly visuals, and ensuring scalability for larger datasets. However, these challenges were addressed through Power Query preprocessing, DAX calculations, and deployment on Power BI Service with Azure integration.</a:t>
            </a:r>
          </a:p>
          <a:p>
            <a:r>
              <a:rPr lang="en-US" sz="2400" dirty="0">
                <a:latin typeface="Bell MT" panose="02020503060305020303" pitchFamily="18" charset="0"/>
              </a:rPr>
              <a:t>Ultimately, this project proves that a well‑designed dashboard is not just a reporting tool but a </a:t>
            </a:r>
            <a:r>
              <a:rPr lang="en-US" sz="2400" b="1" dirty="0">
                <a:latin typeface="Bell MT" panose="02020503060305020303" pitchFamily="18" charset="0"/>
              </a:rPr>
              <a:t>strategic asset</a:t>
            </a:r>
            <a:r>
              <a:rPr lang="en-US" sz="2400" dirty="0">
                <a:latin typeface="Bell MT" panose="02020503060305020303" pitchFamily="18" charset="0"/>
              </a:rPr>
              <a:t>. It empowers businesses to identify growth opportunities, optimize operations, and enhance customer satisfaction, making data a driver of competitive advantage in the digital economy.</a:t>
            </a:r>
          </a:p>
          <a:p>
            <a:pPr marL="0" indent="0">
              <a:buNone/>
            </a:pPr>
            <a:r>
              <a:rPr lang="en-IN" sz="2200" dirty="0">
                <a:latin typeface="Bell MT" panose="02020503060305020303" pitchFamily="18" charset="0"/>
              </a:rPr>
              <a:t>.</a:t>
            </a:r>
            <a:endParaRPr lang="en-US" sz="2200" dirty="0">
              <a:latin typeface="Bell MT" panose="020205030603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389991" y="1629554"/>
            <a:ext cx="10515600" cy="5391006"/>
          </a:xfrm>
        </p:spPr>
        <p:txBody>
          <a:bodyPr vert="horz" lIns="91440" tIns="45720" rIns="91440" bIns="45720" rtlCol="0">
            <a:normAutofit/>
          </a:bodyPr>
          <a:lstStyle/>
          <a:p>
            <a:r>
              <a:rPr lang="en-US" sz="1900" dirty="0">
                <a:latin typeface="Bell MT" panose="02020503060305020303" pitchFamily="18" charset="0"/>
              </a:rPr>
              <a:t>While</a:t>
            </a:r>
            <a:r>
              <a:rPr lang="en-US" sz="1400" dirty="0">
                <a:latin typeface="Bell MT" panose="02020503060305020303" pitchFamily="18" charset="0"/>
              </a:rPr>
              <a:t> the current dashboard provides strong descriptive analytics and forecasting capabilities, there are several opportunities to enhance and expand the system in future iterations:</a:t>
            </a:r>
          </a:p>
          <a:p>
            <a:r>
              <a:rPr lang="en-US" sz="1400" b="1" dirty="0">
                <a:latin typeface="Bell MT" panose="02020503060305020303" pitchFamily="18" charset="0"/>
              </a:rPr>
              <a:t>Predictive Analytics Integration</a:t>
            </a:r>
            <a:r>
              <a:rPr lang="en-US" sz="1400" dirty="0">
                <a:latin typeface="Bell MT" panose="02020503060305020303" pitchFamily="18" charset="0"/>
              </a:rPr>
              <a:t>: Incorporating advanced machine learning models (e.g., regression, ARIMA, or LSTM) to forecast demand more accurately, such as predicting seasonal sales spikes or customer churn.</a:t>
            </a:r>
          </a:p>
          <a:p>
            <a:r>
              <a:rPr lang="en-US" sz="1400" b="1" dirty="0">
                <a:latin typeface="Bell MT" panose="02020503060305020303" pitchFamily="18" charset="0"/>
              </a:rPr>
              <a:t>AI/ML Enhancements</a:t>
            </a:r>
            <a:r>
              <a:rPr lang="en-US" sz="1400" dirty="0">
                <a:latin typeface="Bell MT" panose="02020503060305020303" pitchFamily="18" charset="0"/>
              </a:rPr>
              <a:t>: Adding intelligent features like recommendation systems to suggest profitable product bundles or personalized offers for specific customer segments.</a:t>
            </a:r>
          </a:p>
          <a:p>
            <a:r>
              <a:rPr lang="en-US" sz="1400" b="1" dirty="0">
                <a:latin typeface="Bell MT" panose="02020503060305020303" pitchFamily="18" charset="0"/>
              </a:rPr>
              <a:t>Expanded Data Sources</a:t>
            </a:r>
            <a:r>
              <a:rPr lang="en-US" sz="1400" dirty="0">
                <a:latin typeface="Bell MT" panose="02020503060305020303" pitchFamily="18" charset="0"/>
              </a:rPr>
              <a:t>: Extending beyond the current dataset to include external factors such as competitor pricing, marketing campaigns, or macroeconomic indicators, which would provide a more holistic view of performance.</a:t>
            </a:r>
          </a:p>
          <a:p>
            <a:r>
              <a:rPr lang="en-US" sz="1400" b="1" dirty="0">
                <a:latin typeface="Bell MT" panose="02020503060305020303" pitchFamily="18" charset="0"/>
              </a:rPr>
              <a:t>Global &amp; Multi‑City Deployment</a:t>
            </a:r>
            <a:r>
              <a:rPr lang="en-US" sz="1400" dirty="0">
                <a:latin typeface="Bell MT" panose="02020503060305020303" pitchFamily="18" charset="0"/>
              </a:rPr>
              <a:t>: Scaling the dashboard to handle datasets from multiple cities or regions, enabling comparative analysis across geographies and supporting global e‑commerce strategies.</a:t>
            </a:r>
          </a:p>
          <a:p>
            <a:r>
              <a:rPr lang="en-US" sz="1400" b="1" dirty="0">
                <a:latin typeface="Bell MT" panose="02020503060305020303" pitchFamily="18" charset="0"/>
              </a:rPr>
              <a:t>Real‑Time Updates</a:t>
            </a:r>
            <a:r>
              <a:rPr lang="en-US" sz="1400" dirty="0">
                <a:latin typeface="Bell MT" panose="02020503060305020303" pitchFamily="18" charset="0"/>
              </a:rPr>
              <a:t>: Integrating with live data streams through Azure to provide real‑time monitoring of orders, inventory, and customer behavior, ensuring faster decision‑making.</a:t>
            </a:r>
          </a:p>
          <a:p>
            <a:r>
              <a:rPr lang="en-US" sz="1400" b="1" dirty="0">
                <a:latin typeface="Bell MT" panose="02020503060305020303" pitchFamily="18" charset="0"/>
              </a:rPr>
              <a:t>Natural Language Interaction</a:t>
            </a:r>
            <a:r>
              <a:rPr lang="en-US" sz="1400" dirty="0">
                <a:latin typeface="Bell MT" panose="02020503060305020303" pitchFamily="18" charset="0"/>
              </a:rPr>
              <a:t>: Leveraging Microsoft Copilot or similar AI assistants to allow stakeholders to query the dashboard using simple language (e.g., “Show me last month’s profit by category”).</a:t>
            </a:r>
          </a:p>
          <a:p>
            <a:r>
              <a:rPr lang="en-US" sz="1400" b="1" dirty="0">
                <a:latin typeface="Bell MT" panose="02020503060305020303" pitchFamily="18" charset="0"/>
              </a:rPr>
              <a:t>Edge Computing for Scalability</a:t>
            </a:r>
            <a:r>
              <a:rPr lang="en-US" sz="1400" dirty="0">
                <a:latin typeface="Bell MT" panose="02020503060305020303" pitchFamily="18" charset="0"/>
              </a:rPr>
              <a:t>: Exploring edge computing solutions to process data closer to the source, improving performance and accessibility for businesses with large, distributed datasets.</a:t>
            </a:r>
          </a:p>
          <a:p>
            <a:pPr marL="0" indent="0">
              <a:spcBef>
                <a:spcPct val="20000"/>
              </a:spcBef>
              <a:spcAft>
                <a:spcPts val="600"/>
              </a:spcAft>
              <a:buNone/>
            </a:pPr>
            <a:endParaRPr lang="en-US" sz="1600" dirty="0">
              <a:latin typeface="Bell MT" panose="02020503060305020303" pitchFamily="18" charset="0"/>
            </a:endParaRPr>
          </a:p>
          <a:p>
            <a:pPr marL="0" indent="0">
              <a:spcBef>
                <a:spcPct val="20000"/>
              </a:spcBef>
              <a:spcAft>
                <a:spcPts val="600"/>
              </a:spcAft>
              <a:buNone/>
            </a:pPr>
            <a:r>
              <a:rPr lang="en-US" sz="2200" dirty="0">
                <a:latin typeface="Franklin Gothic Book" panose="020B0503020102020204"/>
              </a:rPr>
              <a:t>.</a:t>
            </a:r>
          </a:p>
          <a:p>
            <a:pPr marL="0" indent="0">
              <a:spcBef>
                <a:spcPct val="20000"/>
              </a:spcBef>
              <a:spcAft>
                <a:spcPts val="600"/>
              </a:spcAft>
              <a:buNone/>
            </a:pPr>
            <a:endParaRPr lang="en-GB" sz="1400" dirty="0"/>
          </a:p>
          <a:p>
            <a:pPr marL="0" indent="0">
              <a:buNone/>
            </a:pPr>
            <a:endParaRPr lang="en-GB"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References:</a:t>
            </a:r>
            <a:endParaRPr lang="en-US" sz="4000" dirty="0"/>
          </a:p>
        </p:txBody>
      </p:sp>
      <p:sp>
        <p:nvSpPr>
          <p:cNvPr id="3" name="Content Placeholder 2"/>
          <p:cNvSpPr>
            <a:spLocks noGrp="1"/>
          </p:cNvSpPr>
          <p:nvPr>
            <p:ph idx="1"/>
          </p:nvPr>
        </p:nvSpPr>
        <p:spPr>
          <a:xfrm>
            <a:off x="420324" y="3633925"/>
            <a:ext cx="10515600" cy="4251960"/>
          </a:xfrm>
        </p:spPr>
        <p:txBody>
          <a:bodyPr vert="horz" lIns="91440" tIns="45720" rIns="91440" bIns="45720" rtlCol="0" anchor="t">
            <a:normAutofit/>
          </a:bodyPr>
          <a:lstStyle/>
          <a:p>
            <a:pPr marL="0" indent="0">
              <a:buNone/>
            </a:pPr>
            <a:endParaRPr lang="en-IN" sz="1600" u="sng" dirty="0">
              <a:solidFill>
                <a:srgbClr val="0070C0"/>
              </a:solidFill>
              <a:latin typeface="Franklin Gothic Book" panose="020B0503020102020204"/>
            </a:endParaRPr>
          </a:p>
          <a:p>
            <a:pPr marL="0" indent="0">
              <a:buNone/>
            </a:pPr>
            <a:endParaRPr lang="en-IN" sz="1600" dirty="0">
              <a:latin typeface="Franklin Gothic Book" panose="020B0503020102020204"/>
            </a:endParaRPr>
          </a:p>
        </p:txBody>
      </p:sp>
      <p:sp>
        <p:nvSpPr>
          <p:cNvPr id="6" name="Rectangle 3">
            <a:extLst>
              <a:ext uri="{FF2B5EF4-FFF2-40B4-BE49-F238E27FC236}">
                <a16:creationId xmlns:a16="http://schemas.microsoft.com/office/drawing/2014/main" id="{267E28FE-68FF-433E-23BF-D776E0100CF9}"/>
              </a:ext>
            </a:extLst>
          </p:cNvPr>
          <p:cNvSpPr>
            <a:spLocks noChangeArrowheads="1"/>
          </p:cNvSpPr>
          <p:nvPr/>
        </p:nvSpPr>
        <p:spPr bwMode="auto">
          <a:xfrm>
            <a:off x="128908" y="1235501"/>
            <a:ext cx="1193557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Bell MT" panose="02020503060305020303" pitchFamily="18" charset="0"/>
              </a:rPr>
              <a:t>Microsoft Power BI Documentation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Bell MT" panose="02020503060305020303" pitchFamily="18" charset="0"/>
              </a:rPr>
              <a:t>Azure Cloud Administration Guides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Bell MT" panose="02020503060305020303" pitchFamily="18" charset="0"/>
              </a:rPr>
              <a:t>Internship learning modules: Power BI, Azure, Cloud Engineering, AI/ML, Microsoft Copilot </a:t>
            </a:r>
          </a:p>
          <a:p>
            <a:pPr lvl="0" eaLnBrk="0" fontAlgn="base" hangingPunct="0">
              <a:spcBef>
                <a:spcPct val="0"/>
              </a:spcBef>
              <a:spcAft>
                <a:spcPct val="0"/>
              </a:spcAft>
              <a:buFontTx/>
              <a:buChar char="•"/>
            </a:pPr>
            <a:r>
              <a:rPr kumimoji="0" lang="en-US" altLang="en-US" sz="2200" b="0" i="0" u="none" strike="noStrike" cap="none" normalizeH="0" baseline="0" dirty="0">
                <a:ln>
                  <a:noFill/>
                </a:ln>
                <a:solidFill>
                  <a:schemeClr val="tx1"/>
                </a:solidFill>
                <a:effectLst/>
                <a:latin typeface="Bell MT" panose="02020503060305020303" pitchFamily="18" charset="0"/>
              </a:rPr>
              <a:t>Dataset: </a:t>
            </a:r>
            <a:r>
              <a:rPr lang="en-IN" sz="2400" dirty="0">
                <a:latin typeface="Bell MT" panose="02020503060305020303" pitchFamily="18" charset="0"/>
                <a:hlinkClick r:id="rId2"/>
              </a:rPr>
              <a:t>SampleSuperstore.csv.xlsx</a:t>
            </a:r>
            <a:endParaRPr lang="en-IN" sz="2400" dirty="0">
              <a:latin typeface="Bell MT" panose="02020503060305020303" pitchFamily="18" charset="0"/>
            </a:endParaRPr>
          </a:p>
          <a:p>
            <a:pPr lvl="0" eaLnBrk="0" fontAlgn="base" hangingPunct="0">
              <a:spcBef>
                <a:spcPct val="0"/>
              </a:spcBef>
              <a:spcAft>
                <a:spcPct val="0"/>
              </a:spcAft>
            </a:pPr>
            <a:r>
              <a:rPr lang="en-IN" altLang="en-US" sz="2400" dirty="0" err="1">
                <a:latin typeface="Bell MT" panose="02020503060305020303" pitchFamily="18" charset="0"/>
              </a:rPr>
              <a:t>Github</a:t>
            </a:r>
            <a:r>
              <a:rPr lang="en-IN" altLang="en-US" sz="2400" dirty="0">
                <a:latin typeface="Bell MT" panose="02020503060305020303" pitchFamily="18" charset="0"/>
              </a:rPr>
              <a:t> link:  https://github.com/samiakhan1697-prog/E-Commerce-Sales-Dashboard-PowerBI</a:t>
            </a:r>
            <a:endParaRPr kumimoji="0" lang="en-US" altLang="en-US" sz="2200" b="0" i="0" u="none" strike="noStrike" cap="none" normalizeH="0" baseline="0" dirty="0">
              <a:ln>
                <a:noFill/>
              </a:ln>
              <a:solidFill>
                <a:schemeClr val="tx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1657</Words>
  <Application>Microsoft Office PowerPoint</Application>
  <PresentationFormat>Widescreen</PresentationFormat>
  <Paragraphs>109</Paragraphs>
  <Slides>15</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Aptos</vt:lpstr>
      <vt:lpstr>Arial</vt:lpstr>
      <vt:lpstr>Bell MT</vt:lpstr>
      <vt:lpstr>Calibri</vt:lpstr>
      <vt:lpstr>Franklin Gothic Book</vt:lpstr>
      <vt:lpstr>1_Office Theme</vt:lpstr>
      <vt:lpstr>Custom Design</vt:lpstr>
      <vt:lpstr>PowerPoint Presentation</vt:lpstr>
      <vt:lpstr>OUTLINE:</vt:lpstr>
      <vt:lpstr>Problem Statement:</vt:lpstr>
      <vt:lpstr>Proposed Solution:</vt:lpstr>
      <vt:lpstr>PowerPoint Presentation</vt:lpstr>
      <vt:lpstr>System  Approach:</vt:lpstr>
      <vt:lpstr>Algorithm &amp; Deployment:</vt:lpstr>
      <vt:lpstr>Result:</vt:lpstr>
      <vt:lpstr>RESULT </vt:lpstr>
      <vt:lpstr>RESULT</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Samia khan</cp:lastModifiedBy>
  <cp:revision>105</cp:revision>
  <dcterms:created xsi:type="dcterms:W3CDTF">2024-05-21T11:55:00Z</dcterms:created>
  <dcterms:modified xsi:type="dcterms:W3CDTF">2026-03-11T12:08:25Z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